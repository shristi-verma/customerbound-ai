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33fce7fcc144a0" /><Relationship Type="http://schemas.openxmlformats.org/officeDocument/2006/relationships/extended-properties" Target="/docProps/app.xml" Id="R69ec82c8927642ef" /><Relationship Type="http://schemas.openxmlformats.org/officeDocument/2006/relationships/officeDocument" Target="/ppt/presentation.xml" Id="R4c4edeb053324471" /></Relationships>
</file>

<file path=ppt/presentation.xml><?xml version="1.0" encoding="utf-8"?>
<p:presentation xmlns:p="http://schemas.openxmlformats.org/presentationml/2006/main">
  <p:sldMasterIdLst>
    <p:sldMasterId xmlns:r="http://schemas.openxmlformats.org/officeDocument/2006/relationships" id="2147483648" r:id="Rf65a465a57054151"/>
  </p:sldMasterIdLst>
  <p:notesMasterIdLst>
    <p:notesMasterId xmlns:r="http://schemas.openxmlformats.org/officeDocument/2006/relationships" r:id="Rea8d7a40e6694785"/>
  </p:notesMasterIdLst>
  <p:sldIdLst>
    <p:sldId xmlns:r="http://schemas.openxmlformats.org/officeDocument/2006/relationships" id="256" r:id="R4f9be98338314df2"/>
    <p:sldId xmlns:r="http://schemas.openxmlformats.org/officeDocument/2006/relationships" id="257" r:id="Rc8aeb4ead9834d0b"/>
    <p:sldId xmlns:r="http://schemas.openxmlformats.org/officeDocument/2006/relationships" id="258" r:id="R1285937f34ae462b"/>
    <p:sldId xmlns:r="http://schemas.openxmlformats.org/officeDocument/2006/relationships" id="259" r:id="R31dea14e90a94c36"/>
    <p:sldId xmlns:r="http://schemas.openxmlformats.org/officeDocument/2006/relationships" id="260" r:id="Rbf2541d9b5b34666"/>
    <p:sldId xmlns:r="http://schemas.openxmlformats.org/officeDocument/2006/relationships" id="261" r:id="Rdd82bd33641d408b"/>
    <p:sldId xmlns:r="http://schemas.openxmlformats.org/officeDocument/2006/relationships" id="262" r:id="R693fd66a63a845c2"/>
    <p:sldId xmlns:r="http://schemas.openxmlformats.org/officeDocument/2006/relationships" id="263" r:id="Re9d93f4d6513401d"/>
    <p:sldId xmlns:r="http://schemas.openxmlformats.org/officeDocument/2006/relationships" id="264" r:id="R6b321006f57d4344"/>
    <p:sldId xmlns:r="http://schemas.openxmlformats.org/officeDocument/2006/relationships" id="265" r:id="R0bb421b8aae24cc7"/>
    <p:sldId xmlns:r="http://schemas.openxmlformats.org/officeDocument/2006/relationships" id="266" r:id="R88307219450344db"/>
    <p:sldId xmlns:r="http://schemas.openxmlformats.org/officeDocument/2006/relationships" id="267" r:id="Ra12037870030457a"/>
    <p:sldId xmlns:r="http://schemas.openxmlformats.org/officeDocument/2006/relationships" id="268" r:id="R3b7ff74711fb4032"/>
    <p:sldId xmlns:r="http://schemas.openxmlformats.org/officeDocument/2006/relationships" id="269" r:id="R21d4747cc60a4dc1"/>
    <p:sldId xmlns:r="http://schemas.openxmlformats.org/officeDocument/2006/relationships" id="270" r:id="Rcc306753527b42bb"/>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6b018e2ae9a416d" /><Relationship Type="http://schemas.openxmlformats.org/officeDocument/2006/relationships/slideMaster" Target="/ppt/slideMasters/slideMaster1.xml" Id="Rf65a465a57054151" /><Relationship Type="http://schemas.openxmlformats.org/officeDocument/2006/relationships/notesMaster" Target="/ppt/notesMasters/notesMaster1.xml" Id="Rea8d7a40e6694785" /><Relationship Type="http://schemas.openxmlformats.org/officeDocument/2006/relationships/presProps" Target="/ppt/presProps.xml" Id="R4c12f446f1714987" /><Relationship Type="http://schemas.openxmlformats.org/officeDocument/2006/relationships/viewProps" Target="/ppt/viewProps.xml" Id="Rf2f223f7551546cf" /><Relationship Type="http://schemas.openxmlformats.org/officeDocument/2006/relationships/tableStyles" Target="/ppt/tableStyles.xml" Id="Rc4384bb4d1a34c73" /><Relationship Type="http://schemas.openxmlformats.org/officeDocument/2006/relationships/slide" Target="/ppt/slides/slide1.xml" Id="R4f9be98338314df2" /><Relationship Type="http://schemas.openxmlformats.org/officeDocument/2006/relationships/slide" Target="/ppt/slides/slide2.xml" Id="Rc8aeb4ead9834d0b" /><Relationship Type="http://schemas.openxmlformats.org/officeDocument/2006/relationships/slide" Target="/ppt/slides/slide3.xml" Id="R1285937f34ae462b" /><Relationship Type="http://schemas.openxmlformats.org/officeDocument/2006/relationships/slide" Target="/ppt/slides/slide4.xml" Id="R31dea14e90a94c36" /><Relationship Type="http://schemas.openxmlformats.org/officeDocument/2006/relationships/slide" Target="/ppt/slides/slide5.xml" Id="Rbf2541d9b5b34666" /><Relationship Type="http://schemas.openxmlformats.org/officeDocument/2006/relationships/slide" Target="/ppt/slides/slide6.xml" Id="Rdd82bd33641d408b" /><Relationship Type="http://schemas.openxmlformats.org/officeDocument/2006/relationships/slide" Target="/ppt/slides/slide7.xml" Id="R693fd66a63a845c2" /><Relationship Type="http://schemas.openxmlformats.org/officeDocument/2006/relationships/slide" Target="/ppt/slides/slide8.xml" Id="Re9d93f4d6513401d" /><Relationship Type="http://schemas.openxmlformats.org/officeDocument/2006/relationships/slide" Target="/ppt/slides/slide9.xml" Id="R6b321006f57d4344" /><Relationship Type="http://schemas.openxmlformats.org/officeDocument/2006/relationships/slide" Target="/ppt/slides/slide10.xml" Id="R0bb421b8aae24cc7" /><Relationship Type="http://schemas.openxmlformats.org/officeDocument/2006/relationships/slide" Target="/ppt/slides/slide11.xml" Id="R88307219450344db" /><Relationship Type="http://schemas.openxmlformats.org/officeDocument/2006/relationships/slide" Target="/ppt/slides/slide12.xml" Id="Ra12037870030457a" /><Relationship Type="http://schemas.openxmlformats.org/officeDocument/2006/relationships/slide" Target="/ppt/slides/slide13.xml" Id="R3b7ff74711fb4032" /><Relationship Type="http://schemas.openxmlformats.org/officeDocument/2006/relationships/slide" Target="/ppt/slides/slide14.xml" Id="R21d4747cc60a4dc1" /><Relationship Type="http://schemas.openxmlformats.org/officeDocument/2006/relationships/slide" Target="/ppt/slides/slide15.xml" Id="Rcc306753527b42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ce8d4ecb6347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d44ae744314bc4" /><Relationship Type="http://schemas.openxmlformats.org/officeDocument/2006/relationships/notesMaster" Target="/ppt/notesMasters/notesMaster1.xml" Id="Rb56eeaa4f75847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bbb1ab679e4e10" /><Relationship Type="http://schemas.openxmlformats.org/officeDocument/2006/relationships/notesMaster" Target="/ppt/notesMasters/notesMaster1.xml" Id="R029f6c3bc1bf45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083a3d77b34d04" /><Relationship Type="http://schemas.openxmlformats.org/officeDocument/2006/relationships/notesMaster" Target="/ppt/notesMasters/notesMaster1.xml" Id="Rd96c22e8f9c74e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ac2bba38584b83" /><Relationship Type="http://schemas.openxmlformats.org/officeDocument/2006/relationships/notesMaster" Target="/ppt/notesMasters/notesMaster1.xml" Id="Ra35f99c1766741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5495c72a57495b" /><Relationship Type="http://schemas.openxmlformats.org/officeDocument/2006/relationships/notesMaster" Target="/ppt/notesMasters/notesMaster1.xml" Id="R230153bfec4b44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cf691be9ed49a8" /><Relationship Type="http://schemas.openxmlformats.org/officeDocument/2006/relationships/notesMaster" Target="/ppt/notesMasters/notesMaster1.xml" Id="Rb4c660737f6e4f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c659ecde654834" /><Relationship Type="http://schemas.openxmlformats.org/officeDocument/2006/relationships/notesMaster" Target="/ppt/notesMasters/notesMaster1.xml" Id="R87ae31190dd344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f664788d0d47e0" /><Relationship Type="http://schemas.openxmlformats.org/officeDocument/2006/relationships/notesMaster" Target="/ppt/notesMasters/notesMaster1.xml" Id="R59321057d8ed43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951790b8124111" /><Relationship Type="http://schemas.openxmlformats.org/officeDocument/2006/relationships/notesMaster" Target="/ppt/notesMasters/notesMaster1.xml" Id="Rd16b424a276048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d3417f97aa403c" /><Relationship Type="http://schemas.openxmlformats.org/officeDocument/2006/relationships/notesMaster" Target="/ppt/notesMasters/notesMaster1.xml" Id="Ra43be68398fc49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d5850a4d214302" /><Relationship Type="http://schemas.openxmlformats.org/officeDocument/2006/relationships/notesMaster" Target="/ppt/notesMasters/notesMaster1.xml" Id="Rc955c5f29df84b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fb3ca6757a4690" /><Relationship Type="http://schemas.openxmlformats.org/officeDocument/2006/relationships/notesMaster" Target="/ppt/notesMasters/notesMaster1.xml" Id="Rb3ae1893c45140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382abd42d30420a" /><Relationship Type="http://schemas.openxmlformats.org/officeDocument/2006/relationships/notesMaster" Target="/ppt/notesMasters/notesMaster1.xml" Id="R0f46a570aab647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437e678ee74096" /><Relationship Type="http://schemas.openxmlformats.org/officeDocument/2006/relationships/notesMaster" Target="/ppt/notesMasters/notesMaster1.xml" Id="Rbec267e7339e43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e59a1da33c4c03" /><Relationship Type="http://schemas.openxmlformats.org/officeDocument/2006/relationships/notesMaster" Target="/ppt/notesMasters/notesMaster1.xml" Id="R1eb2e3eed05642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AI assistants become useful when they can act. They become risky when every action inherits a broad integration account. This POC keeps the action while moving authorization back to Salesforce.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Salesforce features, both nicknamed HXL, both about 'headless'. Headless Identity logs a customer in with no Salesforce screen. The Headless Experience Layer lets you describe a card once and have Claude, ChatGPT, Slack or Agentforce draw it. They are not the same thing and they don't know about each other. The question I set out to answer is whether the seam between them 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why the seam matters. The default way to give an AI agent Salesforce data is an integration user — one credential, broad visibility, the agent decides what to show. If that agent is prompt-injected, it inherits everything that user can see. On the right is what we built instead: the agent-facing server holds no Salesforce credential at all. It signs in as one named customer through the identity layer and can only ever see what that one person can see.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the boxes that hold a Salesforce token — one, the identity layer. The MCP server talking to Claude or ChatGPT never sees it. The browser never sees it. Apex reads the Contact off the token and refuses to take a user id from anyone. And every write carries a channel label so the audit trail says not just who, but from where.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What's proven — each line was verified against the live org through the running software, not inferred from documentation. The row to hold onto is 'sharing enforced, not filtered'. Update the last row's host-render status on the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what that claim means. Ada's token, Grace Hopper's nine-thousand-dollar order, four different ways of asking. Through the app's list: absent. Through curl straight at the API by record Id: 404. Through a chat window: not found. Through a prompt-injected chat told to list every customer's orders: sixteen orders, all Ada's. None of those refusals is in code we wrote.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I nearly didn't include. For a week, the previous slide was false. The customer profile had View All Records switched on for the order object. View All bypasses sharing entirely. Every earlier demo filtered the query by contact — so it looked like sharing, and it was actually a WHERE clause. We only found it when we built a tool that asks for a record by Id with no filter — and Ada got Grace's order back. Fixed with a sharing set, View All off, re-verified. The lesson generalises: a sharing claim is only real if something in the demo asks without filtering and is refused.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Claude Desktop is now the verified real-host render. The same server supports HTTPS for ChatGPT and Slack, but this ChatGPT account lacks custom MCP Developer Mode and the Slack workspace has Slackbot disabled by its plan. Present those as rollout constraints, not as successful renders.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Governance. Every write goes in as the customer, owner from the token, channel from the layer. That's the query on screen — one owner, four channels including a cancel. You'll see it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Seventeen places the documentation and the org disagreed, each reproduced and written up. The Setup UI silently not saving is the one that costs the most time; the platform rewriting your widget JSON is the one that will surprise your source control; and the tmpVar1 error is the one you'll google and find nothing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doesn't work. Three of four identity flows are blocked at the org's init-endpoint wall; every credential that can be minted is rejected differently, converging on one root cause. The recommended route is a signing certificate and about forty lines of JWT. Also: in this POC the password goes through the chat to sign in. That's a demo shortcut. The real design is MCP OAuth with the identity layer as the authorization 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ask — this runs on Experience Cloud licensing. Customer Community users. An invisible site is not a free one. And API access was granted at a tier that doesn't normally include it; it works, and I've flagged it rather than assumed it away.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criterion is now complete: Claude Desktop renders the live card and can invoke its tools. Registration and the second live customer remain the main proof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decision: confirm licensing, fund MCP OAuth, and add the second identity. The POC has already proven the core named-user architecture in a real MCP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Never let a live failure be the only version the room sees.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2103d047c54e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6bcb3641ac4d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853e6c268c4d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d2d67c8bd244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b57e00fe6745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653002ca924dc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d0190419df14fa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fde31f4a2904e7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ef7dd90e56542e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57ba3b8dd934dc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c6b2cdbdcab418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41706F-B020-41B8-BF6E-CAA9C7A7959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370148-64DA-4AF3-A694-46A98C0C64E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C8990199-D0A5-4854-BEFC-A41A198A61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6D6C21B-60A8-4958-9549-C391DE1BBE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C889EF4-0C7B-4458-81A6-4CFB62B3AA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F9FD0F-8DE9-4021-A107-E23AF8D216F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253B477-CC77-449C-B161-FB861520DBA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66C18A3-D69D-4C38-9EB0-F00515542E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0EB93F0-340E-46A5-8677-67E101DB6A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2FB49FD-ACA7-43E7-9BD4-07157DCA04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DB556E-98B5-4292-879A-B52F7DB85AC3}"/>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DA9487B-06B6-4C96-AFDB-7FAACD5321E7}"/>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AA5DB51-3E42-4ED8-B234-5A43E7144A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FCB8FF5-F421-4602-BF3B-47F2ADBE52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3AE8B5-B97B-4484-9982-0EBB3BD5C0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03135A1-9533-4344-9D92-2CF53750DD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0C68E16-EBEE-466F-89D5-4E47F258BB84}"/>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8D25646A-7D3B-42DA-873E-29CBB310C59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DAE2F0CC-83D0-4B76-9E6C-768C18E695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146AAA2-2577-4F8D-AAA5-D4C2AA0E1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B56975F-9378-4595-99C7-8190B75320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23433D-4771-461A-87ED-8A5691F59E1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23A5319-9BF2-43AB-B418-3C2B860099F3}"/>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D2B94DA-553F-4CA3-9823-9282A8C7DD30}"/>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B2F8D66D-705E-414B-BF9D-B2AE0394787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C071448-F83C-45AE-884D-3E4816DD960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95707D9D-6E71-447B-8C04-2CADEFA54B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4B3AA361-4E36-4A8A-9A08-265136A78B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646514F-0BA9-4BEB-ABCC-10A053EF42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4A8383-D0DE-49D5-8D4C-0779B3D502D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8EFD93B6-E9A4-4F62-A64D-82A497AC78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B436EBDC-3E1F-4255-9835-E296627AFA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FB6E6AB-BC12-426C-B19F-670AC829A4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9EC7CCC-1EEE-46DB-A809-8BBB205DA1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F97EC4BB-4AC6-4FD4-B1BC-159E39BC0C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29E4D7B6-4AF4-4385-9DE9-497BF2C0DF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7BE900-A0E8-4F4F-913A-9433C5F3DF0A}"/>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9461400-7AD4-4FDC-A669-EBF388CA313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3F87D35E-A962-4874-B18B-8EF50F503D9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DC96DAE-950B-4547-B95F-9A288719E8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F04E2270-53B6-4E74-AE64-90FC2ABF43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030C88C-D317-406B-9C27-675F23FC38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F49347-9150-4570-A548-731292C3271F}"/>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6CB982C9-FACD-47AA-BC58-20A9533DC69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FAD3CE9-4E87-4A4A-8236-1EF921B81B9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82FB29B-8A09-4FED-A8E8-F8C4857D9E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87DF310-0BF6-4930-B316-F8FE7C0612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3D60DC9-C32E-424A-A4F6-76A5FB9F4F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CC60E0-F3FB-42B2-81D8-E7DC27FB14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34372D4-4A1E-417C-AFC9-0C2BD4D5340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B1DA5C8-D9B3-4017-B66C-B927D75C45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8A53586-94FC-4F88-966A-22BF6F4BFA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54DF640-1867-4F40-96AD-1A8C45130F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C068B06-73B8-4E2A-B76E-E06A0E0BB7D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0D55FBB-A420-4337-8A2C-6357CAC40D9F}"/>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A3C608F-779D-4D50-9C45-6E27EC4793C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E7D0FB1-4CF0-4A30-9082-EE41DA5550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2F29652-43E5-43EC-B92F-AE1A57C2D1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be9f7d05bb4ce7" /><Relationship Type="http://schemas.openxmlformats.org/officeDocument/2006/relationships/slideLayout" Target="/ppt/slideLayouts/slideLayout1.xml" Id="Rb354b34a51a84e52" /><Relationship Type="http://schemas.openxmlformats.org/officeDocument/2006/relationships/slideLayout" Target="/ppt/slideLayouts/slideLayout2.xml" Id="R5e6df59e03b54572" /><Relationship Type="http://schemas.openxmlformats.org/officeDocument/2006/relationships/slideLayout" Target="/ppt/slideLayouts/slideLayout3.xml" Id="Rc28fa62643a44b14" /><Relationship Type="http://schemas.openxmlformats.org/officeDocument/2006/relationships/slideLayout" Target="/ppt/slideLayouts/slideLayout4.xml" Id="R5255cc20484a40c8" /><Relationship Type="http://schemas.openxmlformats.org/officeDocument/2006/relationships/slideLayout" Target="/ppt/slideLayouts/slideLayout5.xml" Id="R2d92bdd54e3a44b7" /><Relationship Type="http://schemas.openxmlformats.org/officeDocument/2006/relationships/slideLayout" Target="/ppt/slideLayouts/slideLayout6.xml" Id="Rbeb065071f874fac" /><Relationship Type="http://schemas.openxmlformats.org/officeDocument/2006/relationships/slideLayout" Target="/ppt/slideLayouts/slideLayout7.xml" Id="R44f51621b42d4914" /><Relationship Type="http://schemas.openxmlformats.org/officeDocument/2006/relationships/slideLayout" Target="/ppt/slideLayouts/slideLayout8.xml" Id="Rc8f93b4a06e54b38" /><Relationship Type="http://schemas.openxmlformats.org/officeDocument/2006/relationships/slideLayout" Target="/ppt/slideLayouts/slideLayout9.xml" Id="Ra9e0abe141b54b6f" /><Relationship Type="http://schemas.openxmlformats.org/officeDocument/2006/relationships/slideLayout" Target="/ppt/slideLayouts/slideLayout10.xml" Id="Rb4a3d0d14eba4f46" /><Relationship Type="http://schemas.openxmlformats.org/officeDocument/2006/relationships/slideLayout" Target="/ppt/slideLayouts/slideLayout11.xml" Id="R70fbe3036f72422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82ECFA3-27A1-4353-A88E-27F423929A5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D135969-9509-4BB7-A048-204A4D19601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E18F1BB-B5AB-4077-946E-2BE18219F4CC}"/>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0E65592-D8E6-437C-B168-18014F11E28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BC40D6D-4710-4E5F-9A3C-B358F369FF6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54b34a51a84e52"/>
    <p:sldLayoutId xmlns:r="http://schemas.openxmlformats.org/officeDocument/2006/relationships" id="2147483650" r:id="R5e6df59e03b54572"/>
    <p:sldLayoutId xmlns:r="http://schemas.openxmlformats.org/officeDocument/2006/relationships" id="2147483651" r:id="Rc28fa62643a44b14"/>
    <p:sldLayoutId xmlns:r="http://schemas.openxmlformats.org/officeDocument/2006/relationships" id="2147483652" r:id="R5255cc20484a40c8"/>
    <p:sldLayoutId xmlns:r="http://schemas.openxmlformats.org/officeDocument/2006/relationships" id="2147483653" r:id="R2d92bdd54e3a44b7"/>
    <p:sldLayoutId xmlns:r="http://schemas.openxmlformats.org/officeDocument/2006/relationships" id="2147483654" r:id="Rbeb065071f874fac"/>
    <p:sldLayoutId xmlns:r="http://schemas.openxmlformats.org/officeDocument/2006/relationships" id="2147483655" r:id="R44f51621b42d4914"/>
    <p:sldLayoutId xmlns:r="http://schemas.openxmlformats.org/officeDocument/2006/relationships" id="2147483656" r:id="Rc8f93b4a06e54b38"/>
    <p:sldLayoutId xmlns:r="http://schemas.openxmlformats.org/officeDocument/2006/relationships" id="2147483657" r:id="Ra9e0abe141b54b6f"/>
    <p:sldLayoutId xmlns:r="http://schemas.openxmlformats.org/officeDocument/2006/relationships" id="2147483658" r:id="Rb4a3d0d14eba4f46"/>
    <p:sldLayoutId xmlns:r="http://schemas.openxmlformats.org/officeDocument/2006/relationships" id="2147483659" r:id="R70fbe3036f72422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686ac3955034160" /><Relationship Type="http://schemas.openxmlformats.org/officeDocument/2006/relationships/notesSlide" Target="/ppt/notesSlides/notesSlide1.xml" Id="R91ce40abe0164c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930003e09ce44fd" /><Relationship Type="http://schemas.openxmlformats.org/officeDocument/2006/relationships/notesSlide" Target="/ppt/notesSlides/notesSlide2.xml" Id="Rfacafa17ed864e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8e6b1e324bf84397" /><Relationship Type="http://schemas.openxmlformats.org/officeDocument/2006/relationships/notesSlide" Target="/ppt/notesSlides/notesSlide3.xml" Id="Re39242ae66b746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96a0049dbc94b3e" /><Relationship Type="http://schemas.openxmlformats.org/officeDocument/2006/relationships/notesSlide" Target="/ppt/notesSlides/notesSlide4.xml" Id="Rfde8bf620cb341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e0f2ef35c004e8e" /><Relationship Type="http://schemas.openxmlformats.org/officeDocument/2006/relationships/notesSlide" Target="/ppt/notesSlides/notesSlide5.xml" Id="Rc3ea4367de944d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0f1aee7878fb4ff3" /><Relationship Type="http://schemas.openxmlformats.org/officeDocument/2006/relationships/notesSlide" Target="/ppt/notesSlides/notesSlide6.xml" Id="R9d66aa571ce74e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f5269b5761b4bc9" /><Relationship Type="http://schemas.openxmlformats.org/officeDocument/2006/relationships/notesSlide" Target="/ppt/notesSlides/notesSlide7.xml" Id="Rfcf7851fcb5142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1593808fa26648c4" /><Relationship Type="http://schemas.openxmlformats.org/officeDocument/2006/relationships/notesSlide" Target="/ppt/notesSlides/notesSlide8.xml" Id="Rc60dac333bb541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925c4cc30163443a" /><Relationship Type="http://schemas.openxmlformats.org/officeDocument/2006/relationships/notesSlide" Target="/ppt/notesSlides/notesSlide9.xml" Id="Rf8b5133489494d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20c0108d53b442cc" /><Relationship Type="http://schemas.openxmlformats.org/officeDocument/2006/relationships/notesSlide" Target="/ppt/notesSlides/notesSlide10.xml" Id="Rbde6c37f6b1441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b9a4be68e43b4aa9" /><Relationship Type="http://schemas.openxmlformats.org/officeDocument/2006/relationships/notesSlide" Target="/ppt/notesSlides/notesSlide11.xml" Id="R7de27d7d3cf448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77e3b21051964ec0" /><Relationship Type="http://schemas.openxmlformats.org/officeDocument/2006/relationships/notesSlide" Target="/ppt/notesSlides/notesSlide12.xml" Id="R4f5af7243a2640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92dfe4146b6f4eab" /><Relationship Type="http://schemas.openxmlformats.org/officeDocument/2006/relationships/notesSlide" Target="/ppt/notesSlides/notesSlide13.xml" Id="R9f49e4ed5add4b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a24c694ff1f24bc9" /><Relationship Type="http://schemas.openxmlformats.org/officeDocument/2006/relationships/notesSlide" Target="/ppt/notesSlides/notesSlide14.xml" Id="Ra8b448eaddf64b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ce5159b777cc4d4a" /><Relationship Type="http://schemas.openxmlformats.org/officeDocument/2006/relationships/notesSlide" Target="/ppt/notesSlides/notesSlide15.xml" Id="Re78840bfbd6545b1" /></Relationships>
</file>

<file path=ppt/slides/slide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B0D9FB3-9CB5-449F-A125-1D3CF30DE52B}"/>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6D9EE5A5-306E-4371-88D1-3BDFBD200D2E}"/>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a:t>
            </a:r>
          </a:p>
        </p:txBody>
      </p:sp>
      <p:sp>
        <p:nvSpPr>
          <p:cNvPr id="4" name="TextBox 3">
            <a:extLst xmlns:a="http://schemas.openxmlformats.org/drawingml/2006/main">
              <a:ext uri="{FF2B5EF4-FFF2-40B4-BE49-F238E27FC236}">
                <a16:creationId xmlns:a16="http://schemas.microsoft.com/office/drawing/2014/main" id="{0642C321-CA24-482E-9CEA-8608634717EA}"/>
              </a:ext>
            </a:extLst>
          </p:cNvPr>
          <p:cNvSpPr>
            <a:spLocks xmlns:a="http://schemas.openxmlformats.org/drawingml/2006/main" noGrp="1"/>
          </p:cNvSpPr>
          <p:nvPr/>
        </p:nvSpPr>
        <p:spPr>
          <a:xfrm xmlns:a="http://schemas.openxmlformats.org/drawingml/2006/main">
            <a:off x="822960" y="2103120"/>
            <a:ext cx="1051560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4400" b="1">
                <a:solidFill>
                  <a:srgbClr val="1A1A2E"/>
                </a:solidFill>
                <a:latin typeface="Calibri"/>
                <a:ea typeface="Calibri"/>
                <a:cs typeface="Calibri"/>
              </a:rPr>
              <a:t>Build once, render anywhere
as one specific person</a:t>
            </a:r>
          </a:p>
        </p:txBody>
      </p:sp>
      <p:sp>
        <p:nvSpPr>
          <p:cNvPr id="5" name="TextBox 4">
            <a:extLst xmlns:a="http://schemas.openxmlformats.org/drawingml/2006/main">
              <a:ext uri="{FF2B5EF4-FFF2-40B4-BE49-F238E27FC236}">
                <a16:creationId xmlns:a16="http://schemas.microsoft.com/office/drawing/2014/main" id="{FE59E61C-6E41-4D97-BAB4-319C3DB56AF3}"/>
              </a:ext>
            </a:extLst>
          </p:cNvPr>
          <p:cNvSpPr>
            <a:spLocks xmlns:a="http://schemas.openxmlformats.org/drawingml/2006/main" noGrp="1"/>
          </p:cNvSpPr>
          <p:nvPr/>
        </p:nvSpPr>
        <p:spPr>
          <a:xfrm xmlns:a="http://schemas.openxmlformats.org/drawingml/2006/main">
            <a:off x="822960" y="3840480"/>
            <a:ext cx="1005840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2200" b="0">
                <a:solidFill>
                  <a:srgbClr val="B45309"/>
                </a:solidFill>
                <a:latin typeface="Calibri"/>
                <a:ea typeface="Calibri"/>
                <a:cs typeface="Calibri"/>
              </a:rPr>
              <a:t>Headless Salesforce POC · Phase 2</a:t>
            </a:r>
          </a:p>
        </p:txBody>
      </p:sp>
      <p:sp>
        <p:nvSpPr>
          <p:cNvPr id="6" name="TextBox 5">
            <a:extLst xmlns:a="http://schemas.openxmlformats.org/drawingml/2006/main">
              <a:ext uri="{FF2B5EF4-FFF2-40B4-BE49-F238E27FC236}">
                <a16:creationId xmlns:a16="http://schemas.microsoft.com/office/drawing/2014/main" id="{CDEFF7BC-6A9E-469D-A31A-C41F53FBC758}"/>
              </a:ext>
            </a:extLst>
          </p:cNvPr>
          <p:cNvSpPr>
            <a:spLocks xmlns:a="http://schemas.openxmlformats.org/drawingml/2006/main" noGrp="1"/>
          </p:cNvSpPr>
          <p:nvPr/>
        </p:nvSpPr>
        <p:spPr>
          <a:xfrm xmlns:a="http://schemas.openxmlformats.org/drawingml/2006/main">
            <a:off x="822960" y="4389120"/>
            <a:ext cx="10058400" cy="10972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Headless Identity + Headless Experience Layer, and the seam between them</a:t>
            </a:r>
          </a:p>
          <a:p xmlns:a="http://schemas.openxmlformats.org/drawingml/2006/main">
            <a:pPr algn="l">
              <a:buNone/>
            </a:pPr>
            <a:r>
              <a:rPr sz="1600" b="0">
                <a:solidFill>
                  <a:srgbClr val="78716C"/>
                </a:solidFill>
                <a:latin typeface="Calibri"/>
                <a:ea typeface="Calibri"/>
                <a:cs typeface="Calibri"/>
              </a:rPr>
              <a:t>14 September 2026</a:t>
            </a:r>
          </a:p>
        </p:txBody>
      </p:sp>
    </p:spTree>
    <p:extLst>
      <p:ext uri="{BB962C8B-B14F-4D97-AF65-F5344CB8AC3E}">
        <p14:creationId xmlns:p14="http://schemas.microsoft.com/office/powerpoint/2010/main" val="747444756"/>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95FFB2C-BDFA-45A3-BC95-27117DD9297F}"/>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43CC8EC1-340A-4238-B445-5316D9785687}"/>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2</a:t>
            </a:r>
          </a:p>
        </p:txBody>
      </p:sp>
      <p:sp>
        <p:nvSpPr>
          <p:cNvPr id="4" name="TextBox 3">
            <a:extLst xmlns:a="http://schemas.openxmlformats.org/drawingml/2006/main">
              <a:ext uri="{FF2B5EF4-FFF2-40B4-BE49-F238E27FC236}">
                <a16:creationId xmlns:a16="http://schemas.microsoft.com/office/drawing/2014/main" id="{6A34CB1A-97BF-404F-8BFB-5BBEF3208B08}"/>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question</a:t>
            </a:r>
          </a:p>
        </p:txBody>
      </p:sp>
      <p:sp>
        <p:nvSpPr>
          <p:cNvPr id="5" name="Rectangle 4">
            <a:extLst xmlns:a="http://schemas.openxmlformats.org/drawingml/2006/main">
              <a:ext uri="{FF2B5EF4-FFF2-40B4-BE49-F238E27FC236}">
                <a16:creationId xmlns:a16="http://schemas.microsoft.com/office/drawing/2014/main" id="{19CEAF92-7106-48C6-8D0B-D62CFF818DFA}"/>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B34580A-5328-4137-BA67-8F78E2E68F9F}"/>
              </a:ext>
            </a:extLst>
          </p:cNvPr>
          <p:cNvSpPr>
            <a:spLocks xmlns:a="http://schemas.openxmlformats.org/drawingml/2006/main" noGrp="1"/>
          </p:cNvSpPr>
          <p:nvPr/>
        </p:nvSpPr>
        <p:spPr>
          <a:xfrm xmlns:a="http://schemas.openxmlformats.org/drawingml/2006/main">
            <a:off x="640080" y="2011680"/>
            <a:ext cx="10972800" cy="12801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2400" b="1">
                <a:solidFill>
                  <a:srgbClr val="1A1A2E"/>
                </a:solidFill>
                <a:latin typeface="Calibri"/>
                <a:ea typeface="Calibri"/>
                <a:cs typeface="Calibri"/>
              </a:rPr>
              <a:t>Can a customer experience run on Salesforce with zero Salesforce-hosted UI — and can an AI agent act for that customer without becoming a superuser?</a:t>
            </a:r>
          </a:p>
        </p:txBody>
      </p:sp>
      <p:sp>
        <p:nvSpPr>
          <p:cNvPr id="7" name="TextBox 6">
            <a:extLst xmlns:a="http://schemas.openxmlformats.org/drawingml/2006/main">
              <a:ext uri="{FF2B5EF4-FFF2-40B4-BE49-F238E27FC236}">
                <a16:creationId xmlns:a16="http://schemas.microsoft.com/office/drawing/2014/main" id="{35879C60-C7EB-4C93-B8DC-D03D0D5C99B1}"/>
              </a:ext>
            </a:extLst>
          </p:cNvPr>
          <p:cNvSpPr>
            <a:spLocks xmlns:a="http://schemas.openxmlformats.org/drawingml/2006/main" noGrp="1"/>
          </p:cNvSpPr>
          <p:nvPr/>
        </p:nvSpPr>
        <p:spPr>
          <a:xfrm xmlns:a="http://schemas.openxmlformats.org/drawingml/2006/main">
            <a:off x="640080" y="3566160"/>
            <a:ext cx="10972800" cy="1828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000" b="0">
                <a:solidFill>
                  <a:srgbClr val="1A1A2E"/>
                </a:solidFill>
                <a:latin typeface="Calibri"/>
                <a:ea typeface="Calibri"/>
                <a:cs typeface="Calibri"/>
              </a:rPr>
              <a:t>•  </a:t>
            </a:r>
            <a:r>
              <a:rPr sz="2000" b="1">
                <a:solidFill>
                  <a:srgbClr val="1A1A2E"/>
                </a:solidFill>
                <a:latin typeface="Calibri"/>
                <a:ea typeface="Calibri"/>
                <a:cs typeface="Calibri"/>
              </a:rPr>
              <a:t>Headless Identity</a:t>
            </a:r>
            <a:r>
              <a:rPr sz="2000" b="0">
                <a:solidFill>
                  <a:srgbClr val="1A1A2E"/>
                </a:solidFill>
                <a:latin typeface="Calibri"/>
                <a:ea typeface="Calibri"/>
                <a:cs typeface="Calibri"/>
              </a:rPr>
              <a:t> (GA) — log a customer in with no Salesforce page.</a:t>
            </a:r>
          </a:p>
          <a:p xmlns:a="http://schemas.openxmlformats.org/drawingml/2006/main">
            <a:pPr>
              <a:spcAft>
                <a:spcPts val="600"/>
              </a:spcAft>
              <a:buNone/>
            </a:pPr>
            <a:r>
              <a:rPr sz="2000" b="0">
                <a:solidFill>
                  <a:srgbClr val="1A1A2E"/>
                </a:solidFill>
                <a:latin typeface="Calibri"/>
                <a:ea typeface="Calibri"/>
                <a:cs typeface="Calibri"/>
              </a:rPr>
              <a:t>•  </a:t>
            </a:r>
            <a:r>
              <a:rPr sz="2000" b="1">
                <a:solidFill>
                  <a:srgbClr val="1A1A2E"/>
                </a:solidFill>
                <a:latin typeface="Calibri"/>
                <a:ea typeface="Calibri"/>
                <a:cs typeface="Calibri"/>
              </a:rPr>
              <a:t>Headless Experience Layer</a:t>
            </a:r>
            <a:r>
              <a:rPr sz="2000" b="0">
                <a:solidFill>
                  <a:srgbClr val="1A1A2E"/>
                </a:solidFill>
                <a:latin typeface="Calibri"/>
                <a:ea typeface="Calibri"/>
                <a:cs typeface="Calibri"/>
              </a:rPr>
              <a:t> (Beta) — describe a UI once; Claude, ChatGPT, Slack, Agentforce render it.</a:t>
            </a:r>
          </a:p>
        </p:txBody>
      </p:sp>
      <p:sp>
        <p:nvSpPr>
          <p:cNvPr id="8" name="Rounded Rectangle 7">
            <a:extLst xmlns:a="http://schemas.openxmlformats.org/drawingml/2006/main">
              <a:ext uri="{FF2B5EF4-FFF2-40B4-BE49-F238E27FC236}">
                <a16:creationId xmlns:a16="http://schemas.microsoft.com/office/drawing/2014/main" id="{164305F7-C876-452F-80FC-445654131581}"/>
              </a:ext>
            </a:extLst>
          </p:cNvPr>
          <p:cNvSpPr>
            <a:spLocks xmlns:a="http://schemas.openxmlformats.org/drawingml/2006/main" noGrp="1"/>
          </p:cNvSpPr>
          <p:nvPr/>
        </p:nvSpPr>
        <p:spPr>
          <a:xfrm xmlns:a="http://schemas.openxmlformats.org/drawingml/2006/main">
            <a:off x="640080" y="5120640"/>
            <a:ext cx="10972800" cy="73152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600" b="0">
                <a:solidFill>
                  <a:srgbClr val="1A1A2E"/>
                </a:solidFill>
                <a:latin typeface="Calibri"/>
                <a:ea typeface="Calibri"/>
                <a:cs typeface="Calibri"/>
              </a:rPr>
              <a:t>Both get called "HXL". They are unrelated features. This POC is about the seam between them.</a:t>
            </a:r>
          </a:p>
        </p:txBody>
      </p:sp>
    </p:spTree>
    <p:extLst>
      <p:ext uri="{BB962C8B-B14F-4D97-AF65-F5344CB8AC3E}">
        <p14:creationId xmlns:p14="http://schemas.microsoft.com/office/powerpoint/2010/main" val="1189320588"/>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5E1A994-9AA1-4491-91E8-5F0774554134}"/>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F37EAEE2-1246-4644-9B77-DCBF9B9E0057}"/>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3</a:t>
            </a:r>
          </a:p>
        </p:txBody>
      </p:sp>
      <p:sp>
        <p:nvSpPr>
          <p:cNvPr id="4" name="TextBox 3">
            <a:extLst xmlns:a="http://schemas.openxmlformats.org/drawingml/2006/main">
              <a:ext uri="{FF2B5EF4-FFF2-40B4-BE49-F238E27FC236}">
                <a16:creationId xmlns:a16="http://schemas.microsoft.com/office/drawing/2014/main" id="{E6C535A3-FF08-412E-9A20-508DAEBAD51A}"/>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Why the seam matters</a:t>
            </a:r>
          </a:p>
        </p:txBody>
      </p:sp>
      <p:sp>
        <p:nvSpPr>
          <p:cNvPr id="5" name="TextBox 4">
            <a:extLst xmlns:a="http://schemas.openxmlformats.org/drawingml/2006/main">
              <a:ext uri="{FF2B5EF4-FFF2-40B4-BE49-F238E27FC236}">
                <a16:creationId xmlns:a16="http://schemas.microsoft.com/office/drawing/2014/main" id="{6395C4B6-008D-4E6B-B140-E5415D72D405}"/>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HXL answers where the UI shows up. It does not answer who is asking.</a:t>
            </a:r>
          </a:p>
        </p:txBody>
      </p:sp>
      <p:sp>
        <p:nvSpPr>
          <p:cNvPr id="6" name="Rectangle 5">
            <a:extLst xmlns:a="http://schemas.openxmlformats.org/drawingml/2006/main">
              <a:ext uri="{FF2B5EF4-FFF2-40B4-BE49-F238E27FC236}">
                <a16:creationId xmlns:a16="http://schemas.microsoft.com/office/drawing/2014/main" id="{0E841322-A021-4768-A842-08657E652120}"/>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426078C-3E65-491C-9B89-1F97C4DF58B7}"/>
              </a:ext>
            </a:extLst>
          </p:cNvPr>
          <p:cNvSpPr>
            <a:spLocks xmlns:a="http://schemas.openxmlformats.org/drawingml/2006/main" noGrp="1"/>
          </p:cNvSpPr>
          <p:nvPr/>
        </p:nvSpPr>
        <p:spPr>
          <a:xfrm xmlns:a="http://schemas.openxmlformats.org/drawingml/2006/main">
            <a:off x="640080" y="2011680"/>
            <a:ext cx="530352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800" b="1">
                <a:solidFill>
                  <a:srgbClr val="991B1B"/>
                </a:solidFill>
                <a:latin typeface="Calibri"/>
                <a:ea typeface="Calibri"/>
                <a:cs typeface="Calibri"/>
              </a:rPr>
              <a:t>The default pattern</a:t>
            </a:r>
          </a:p>
        </p:txBody>
      </p:sp>
      <p:sp>
        <p:nvSpPr>
          <p:cNvPr id="8" name="Rounded Rectangle 7">
            <a:extLst xmlns:a="http://schemas.openxmlformats.org/drawingml/2006/main">
              <a:ext uri="{FF2B5EF4-FFF2-40B4-BE49-F238E27FC236}">
                <a16:creationId xmlns:a16="http://schemas.microsoft.com/office/drawing/2014/main" id="{F301F0AE-C060-4522-9E1E-4EB3A2F40A74}"/>
              </a:ext>
            </a:extLst>
          </p:cNvPr>
          <p:cNvSpPr>
            <a:spLocks xmlns:a="http://schemas.openxmlformats.org/drawingml/2006/main" noGrp="1"/>
          </p:cNvSpPr>
          <p:nvPr/>
        </p:nvSpPr>
        <p:spPr>
          <a:xfrm xmlns:a="http://schemas.openxmlformats.org/drawingml/2006/main">
            <a:off x="640080" y="2560320"/>
            <a:ext cx="2194560" cy="9144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0">
                <a:solidFill>
                  <a:srgbClr val="1A1A2E"/>
                </a:solidFill>
                <a:latin typeface="Calibri"/>
                <a:ea typeface="Calibri"/>
                <a:cs typeface="Calibri"/>
              </a:rPr>
              <a:t>AI agent</a:t>
            </a:r>
          </a:p>
        </p:txBody>
      </p:sp>
      <p:sp>
        <p:nvSpPr>
          <p:cNvPr id="9" name="Rounded Rectangle 8">
            <a:extLst xmlns:a="http://schemas.openxmlformats.org/drawingml/2006/main">
              <a:ext uri="{FF2B5EF4-FFF2-40B4-BE49-F238E27FC236}">
                <a16:creationId xmlns:a16="http://schemas.microsoft.com/office/drawing/2014/main" id="{033E784B-9C36-48A4-962B-CC1C54D280EE}"/>
              </a:ext>
            </a:extLst>
          </p:cNvPr>
          <p:cNvSpPr>
            <a:spLocks xmlns:a="http://schemas.openxmlformats.org/drawingml/2006/main" noGrp="1"/>
          </p:cNvSpPr>
          <p:nvPr/>
        </p:nvSpPr>
        <p:spPr>
          <a:xfrm xmlns:a="http://schemas.openxmlformats.org/drawingml/2006/main">
            <a:off x="3291840" y="2560320"/>
            <a:ext cx="2651760" cy="9144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1">
                <a:solidFill>
                  <a:srgbClr val="991B1B"/>
                </a:solidFill>
                <a:latin typeface="Calibri"/>
                <a:ea typeface="Calibri"/>
                <a:cs typeface="Calibri"/>
              </a:rPr>
              <a:t>Integration user</a:t>
            </a:r>
          </a:p>
          <a:p xmlns:a="http://schemas.openxmlformats.org/drawingml/2006/main">
            <a:pPr algn="ctr">
              <a:buNone/>
            </a:pPr>
            <a:r>
              <a:rPr sz="1400" b="0">
                <a:solidFill>
                  <a:srgbClr val="991B1B"/>
                </a:solidFill>
                <a:latin typeface="Calibri"/>
                <a:ea typeface="Calibri"/>
                <a:cs typeface="Calibri"/>
              </a:rPr>
              <a:t>broad access</a:t>
            </a:r>
          </a:p>
        </p:txBody>
      </p:sp>
      <p:sp>
        <p:nvSpPr>
          <p:cNvPr id="10" name="Connector 9">
            <a:extLst xmlns:a="http://schemas.openxmlformats.org/drawingml/2006/main">
              <a:ext uri="{FF2B5EF4-FFF2-40B4-BE49-F238E27FC236}">
                <a16:creationId xmlns:a16="http://schemas.microsoft.com/office/drawing/2014/main" id="{046028B3-78C7-4CFC-A894-C76EED080A9D}"/>
              </a:ext>
            </a:extLst>
          </p:cNvPr>
          <p:cNvSpPr>
            <a:spLocks xmlns:a="http://schemas.openxmlformats.org/drawingml/2006/main" noGrp="1"/>
          </p:cNvSpPr>
          <p:nvPr/>
        </p:nvSpPr>
        <p:spPr>
          <a:xfrm xmlns:a="http://schemas.openxmlformats.org/drawingml/2006/main">
            <a:off x="2834640" y="3017520"/>
            <a:ext cx="45720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TextBox 10">
            <a:extLst xmlns:a="http://schemas.openxmlformats.org/drawingml/2006/main">
              <a:ext uri="{FF2B5EF4-FFF2-40B4-BE49-F238E27FC236}">
                <a16:creationId xmlns:a16="http://schemas.microsoft.com/office/drawing/2014/main" id="{94FF9654-139C-4030-9FE8-D9A8CB3B2275}"/>
              </a:ext>
            </a:extLst>
          </p:cNvPr>
          <p:cNvSpPr>
            <a:spLocks xmlns:a="http://schemas.openxmlformats.org/drawingml/2006/main" noGrp="1"/>
          </p:cNvSpPr>
          <p:nvPr/>
        </p:nvSpPr>
        <p:spPr>
          <a:xfrm xmlns:a="http://schemas.openxmlformats.org/drawingml/2006/main">
            <a:off x="640080" y="3657600"/>
            <a:ext cx="530352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500" b="0">
                <a:solidFill>
                  <a:srgbClr val="1A1A2E"/>
                </a:solidFill>
                <a:latin typeface="Calibri"/>
                <a:ea typeface="Calibri"/>
                <a:cs typeface="Calibri"/>
              </a:rPr>
              <a:t>Prompt-injected agent → inherits everything that user can see. The agent decides what to reveal. Security teams reject this, correctly.</a:t>
            </a:r>
          </a:p>
        </p:txBody>
      </p:sp>
      <p:sp>
        <p:nvSpPr>
          <p:cNvPr id="12" name="TextBox 11">
            <a:extLst xmlns:a="http://schemas.openxmlformats.org/drawingml/2006/main">
              <a:ext uri="{FF2B5EF4-FFF2-40B4-BE49-F238E27FC236}">
                <a16:creationId xmlns:a16="http://schemas.microsoft.com/office/drawing/2014/main" id="{657E7104-4F3A-4EB8-A8A6-43347F507DA9}"/>
              </a:ext>
            </a:extLst>
          </p:cNvPr>
          <p:cNvSpPr>
            <a:spLocks xmlns:a="http://schemas.openxmlformats.org/drawingml/2006/main" noGrp="1"/>
          </p:cNvSpPr>
          <p:nvPr/>
        </p:nvSpPr>
        <p:spPr>
          <a:xfrm xmlns:a="http://schemas.openxmlformats.org/drawingml/2006/main">
            <a:off x="6400800" y="2011680"/>
            <a:ext cx="530352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800" b="1">
                <a:solidFill>
                  <a:srgbClr val="14532D"/>
                </a:solidFill>
                <a:latin typeface="Calibri"/>
                <a:ea typeface="Calibri"/>
                <a:cs typeface="Calibri"/>
              </a:rPr>
              <a:t>This POC</a:t>
            </a:r>
          </a:p>
        </p:txBody>
      </p:sp>
      <p:sp>
        <p:nvSpPr>
          <p:cNvPr id="13" name="Rounded Rectangle 12">
            <a:extLst xmlns:a="http://schemas.openxmlformats.org/drawingml/2006/main">
              <a:ext uri="{FF2B5EF4-FFF2-40B4-BE49-F238E27FC236}">
                <a16:creationId xmlns:a16="http://schemas.microsoft.com/office/drawing/2014/main" id="{88F88B42-A206-444D-8EC9-00976DCF3AC5}"/>
              </a:ext>
            </a:extLst>
          </p:cNvPr>
          <p:cNvSpPr>
            <a:spLocks xmlns:a="http://schemas.openxmlformats.org/drawingml/2006/main" noGrp="1"/>
          </p:cNvSpPr>
          <p:nvPr/>
        </p:nvSpPr>
        <p:spPr>
          <a:xfrm xmlns:a="http://schemas.openxmlformats.org/drawingml/2006/main">
            <a:off x="6400800" y="2560320"/>
            <a:ext cx="2194560" cy="9144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0">
                <a:solidFill>
                  <a:srgbClr val="1A1A2E"/>
                </a:solidFill>
                <a:latin typeface="Calibri"/>
                <a:ea typeface="Calibri"/>
                <a:cs typeface="Calibri"/>
              </a:rPr>
              <a:t>AI agent</a:t>
            </a:r>
          </a:p>
        </p:txBody>
      </p:sp>
      <p:sp>
        <p:nvSpPr>
          <p:cNvPr id="14" name="Rounded Rectangle 13">
            <a:extLst xmlns:a="http://schemas.openxmlformats.org/drawingml/2006/main">
              <a:ext uri="{FF2B5EF4-FFF2-40B4-BE49-F238E27FC236}">
                <a16:creationId xmlns:a16="http://schemas.microsoft.com/office/drawing/2014/main" id="{E8855676-4F73-45B4-A6F5-654F429ED4C3}"/>
              </a:ext>
            </a:extLst>
          </p:cNvPr>
          <p:cNvSpPr>
            <a:spLocks xmlns:a="http://schemas.openxmlformats.org/drawingml/2006/main" noGrp="1"/>
          </p:cNvSpPr>
          <p:nvPr/>
        </p:nvSpPr>
        <p:spPr>
          <a:xfrm xmlns:a="http://schemas.openxmlformats.org/drawingml/2006/main">
            <a:off x="9052560" y="2560320"/>
            <a:ext cx="2651760" cy="9144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1">
                <a:solidFill>
                  <a:srgbClr val="14532D"/>
                </a:solidFill>
                <a:latin typeface="Calibri"/>
                <a:ea typeface="Calibri"/>
                <a:cs typeface="Calibri"/>
              </a:rPr>
              <a:t>Named-user token</a:t>
            </a:r>
          </a:p>
          <a:p xmlns:a="http://schemas.openxmlformats.org/drawingml/2006/main">
            <a:pPr algn="ctr">
              <a:buNone/>
            </a:pPr>
            <a:r>
              <a:rPr sz="1400" b="0">
                <a:solidFill>
                  <a:srgbClr val="14532D"/>
                </a:solidFill>
                <a:latin typeface="Calibri"/>
                <a:ea typeface="Calibri"/>
                <a:cs typeface="Calibri"/>
              </a:rPr>
              <a:t>one Contact, held in a layer</a:t>
            </a:r>
          </a:p>
        </p:txBody>
      </p:sp>
      <p:sp>
        <p:nvSpPr>
          <p:cNvPr id="15" name="Connector 14">
            <a:extLst xmlns:a="http://schemas.openxmlformats.org/drawingml/2006/main">
              <a:ext uri="{FF2B5EF4-FFF2-40B4-BE49-F238E27FC236}">
                <a16:creationId xmlns:a16="http://schemas.microsoft.com/office/drawing/2014/main" id="{0E4675C9-E2DA-4240-8B3C-AF59AD57BD66}"/>
              </a:ext>
            </a:extLst>
          </p:cNvPr>
          <p:cNvSpPr>
            <a:spLocks xmlns:a="http://schemas.openxmlformats.org/drawingml/2006/main" noGrp="1"/>
          </p:cNvSpPr>
          <p:nvPr/>
        </p:nvSpPr>
        <p:spPr>
          <a:xfrm xmlns:a="http://schemas.openxmlformats.org/drawingml/2006/main">
            <a:off x="8595360" y="3017520"/>
            <a:ext cx="45720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FC0E7D97-E01A-478C-A734-E80D0A4D7A39}"/>
              </a:ext>
            </a:extLst>
          </p:cNvPr>
          <p:cNvSpPr>
            <a:spLocks xmlns:a="http://schemas.openxmlformats.org/drawingml/2006/main" noGrp="1"/>
          </p:cNvSpPr>
          <p:nvPr/>
        </p:nvSpPr>
        <p:spPr>
          <a:xfrm xmlns:a="http://schemas.openxmlformats.org/drawingml/2006/main">
            <a:off x="6400800" y="3657600"/>
            <a:ext cx="530352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500" b="0">
                <a:solidFill>
                  <a:srgbClr val="1A1A2E"/>
                </a:solidFill>
                <a:latin typeface="Calibri"/>
                <a:ea typeface="Calibri"/>
                <a:cs typeface="Calibri"/>
              </a:rPr>
              <a:t>The agent-facing server holds no Salesforce credential. It signs in as one customer and can only ever see what that one person can see — decided by the platform, not the prompt.</a:t>
            </a:r>
          </a:p>
        </p:txBody>
      </p:sp>
    </p:spTree>
    <p:extLst>
      <p:ext uri="{BB962C8B-B14F-4D97-AF65-F5344CB8AC3E}">
        <p14:creationId xmlns:p14="http://schemas.microsoft.com/office/powerpoint/2010/main" val="793871754"/>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568123B-486A-4829-8F05-17E8730E858C}"/>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3135D8E7-6D17-4D23-82A4-CC5E148628CD}"/>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4</a:t>
            </a:r>
          </a:p>
        </p:txBody>
      </p:sp>
      <p:sp>
        <p:nvSpPr>
          <p:cNvPr id="4" name="TextBox 3">
            <a:extLst xmlns:a="http://schemas.openxmlformats.org/drawingml/2006/main">
              <a:ext uri="{FF2B5EF4-FFF2-40B4-BE49-F238E27FC236}">
                <a16:creationId xmlns:a16="http://schemas.microsoft.com/office/drawing/2014/main" id="{F97F50C9-DB70-460B-B4F3-CE395B1AF030}"/>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Architecture</a:t>
            </a:r>
          </a:p>
        </p:txBody>
      </p:sp>
      <p:sp>
        <p:nvSpPr>
          <p:cNvPr id="5" name="TextBox 4">
            <a:extLst xmlns:a="http://schemas.openxmlformats.org/drawingml/2006/main">
              <a:ext uri="{FF2B5EF4-FFF2-40B4-BE49-F238E27FC236}">
                <a16:creationId xmlns:a16="http://schemas.microsoft.com/office/drawing/2014/main" id="{A32BAD1B-F9CA-45B9-862F-4AE69D58DC1A}"/>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Only one box holds a Salesforce token — and it is not the one talking to the AI</a:t>
            </a:r>
          </a:p>
        </p:txBody>
      </p:sp>
      <p:sp>
        <p:nvSpPr>
          <p:cNvPr id="6" name="Rectangle 5">
            <a:extLst xmlns:a="http://schemas.openxmlformats.org/drawingml/2006/main">
              <a:ext uri="{FF2B5EF4-FFF2-40B4-BE49-F238E27FC236}">
                <a16:creationId xmlns:a16="http://schemas.microsoft.com/office/drawing/2014/main" id="{CA3CD701-DF05-491A-AEB0-7FB5A42FB98D}"/>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F2EAD33E-BDB2-4C9B-9DAA-17D7C27C95F2}"/>
              </a:ext>
            </a:extLst>
          </p:cNvPr>
          <p:cNvSpPr>
            <a:spLocks xmlns:a="http://schemas.openxmlformats.org/drawingml/2006/main" noGrp="1"/>
          </p:cNvSpPr>
          <p:nvPr/>
        </p:nvSpPr>
        <p:spPr>
          <a:xfrm xmlns:a="http://schemas.openxmlformats.org/drawingml/2006/main">
            <a:off x="640080" y="210312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Claude Desktop</a:t>
            </a:r>
          </a:p>
          <a:p xmlns:a="http://schemas.openxmlformats.org/drawingml/2006/main">
            <a:pPr algn="ctr">
              <a:buNone/>
            </a:pPr>
            <a:r>
              <a:rPr sz="1300" b="0">
                <a:solidFill>
                  <a:srgbClr val="1A1A2E"/>
                </a:solidFill>
                <a:latin typeface="Calibri"/>
                <a:ea typeface="Calibri"/>
                <a:cs typeface="Calibri"/>
              </a:rPr>
              <a:t>stdio</a:t>
            </a:r>
          </a:p>
        </p:txBody>
      </p:sp>
      <p:sp>
        <p:nvSpPr>
          <p:cNvPr id="8" name="Rounded Rectangle 7">
            <a:extLst xmlns:a="http://schemas.openxmlformats.org/drawingml/2006/main">
              <a:ext uri="{FF2B5EF4-FFF2-40B4-BE49-F238E27FC236}">
                <a16:creationId xmlns:a16="http://schemas.microsoft.com/office/drawing/2014/main" id="{4E02AB30-55FB-4305-951A-4DBC3C00D9B1}"/>
              </a:ext>
            </a:extLst>
          </p:cNvPr>
          <p:cNvSpPr>
            <a:spLocks xmlns:a="http://schemas.openxmlformats.org/drawingml/2006/main" noGrp="1"/>
          </p:cNvSpPr>
          <p:nvPr/>
        </p:nvSpPr>
        <p:spPr>
          <a:xfrm xmlns:a="http://schemas.openxmlformats.org/drawingml/2006/main">
            <a:off x="640080" y="297180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ChatGPT</a:t>
            </a:r>
          </a:p>
          <a:p xmlns:a="http://schemas.openxmlformats.org/drawingml/2006/main">
            <a:pPr algn="ctr">
              <a:buNone/>
            </a:pPr>
            <a:r>
              <a:rPr sz="1300" b="0">
                <a:solidFill>
                  <a:srgbClr val="1A1A2E"/>
                </a:solidFill>
                <a:latin typeface="Calibri"/>
                <a:ea typeface="Calibri"/>
                <a:cs typeface="Calibri"/>
              </a:rPr>
              <a:t>HTTPS</a:t>
            </a:r>
          </a:p>
        </p:txBody>
      </p:sp>
      <p:sp>
        <p:nvSpPr>
          <p:cNvPr id="9" name="Rounded Rectangle 8">
            <a:extLst xmlns:a="http://schemas.openxmlformats.org/drawingml/2006/main">
              <a:ext uri="{FF2B5EF4-FFF2-40B4-BE49-F238E27FC236}">
                <a16:creationId xmlns:a16="http://schemas.microsoft.com/office/drawing/2014/main" id="{E585C1DE-0179-4D27-B1AB-71AA47744D49}"/>
              </a:ext>
            </a:extLst>
          </p:cNvPr>
          <p:cNvSpPr>
            <a:spLocks xmlns:a="http://schemas.openxmlformats.org/drawingml/2006/main" noGrp="1"/>
          </p:cNvSpPr>
          <p:nvPr/>
        </p:nvSpPr>
        <p:spPr>
          <a:xfrm xmlns:a="http://schemas.openxmlformats.org/drawingml/2006/main">
            <a:off x="640080" y="384048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Slackbot</a:t>
            </a:r>
          </a:p>
          <a:p xmlns:a="http://schemas.openxmlformats.org/drawingml/2006/main">
            <a:pPr algn="ctr">
              <a:buNone/>
            </a:pPr>
            <a:r>
              <a:rPr sz="1300" b="0">
                <a:solidFill>
                  <a:srgbClr val="1A1A2E"/>
                </a:solidFill>
                <a:latin typeface="Calibri"/>
                <a:ea typeface="Calibri"/>
                <a:cs typeface="Calibri"/>
              </a:rPr>
              <a:t>HTTPS · MCP Apps</a:t>
            </a:r>
          </a:p>
        </p:txBody>
      </p:sp>
      <p:sp>
        <p:nvSpPr>
          <p:cNvPr id="10" name="Rounded Rectangle 9">
            <a:extLst xmlns:a="http://schemas.openxmlformats.org/drawingml/2006/main">
              <a:ext uri="{FF2B5EF4-FFF2-40B4-BE49-F238E27FC236}">
                <a16:creationId xmlns:a16="http://schemas.microsoft.com/office/drawing/2014/main" id="{36DE5E00-64B3-4580-B14B-275FE6DE489A}"/>
              </a:ext>
            </a:extLst>
          </p:cNvPr>
          <p:cNvSpPr>
            <a:spLocks xmlns:a="http://schemas.openxmlformats.org/drawingml/2006/main" noGrp="1"/>
          </p:cNvSpPr>
          <p:nvPr/>
        </p:nvSpPr>
        <p:spPr>
          <a:xfrm xmlns:a="http://schemas.openxmlformats.org/drawingml/2006/main">
            <a:off x="3931920" y="2651760"/>
            <a:ext cx="2926080" cy="13716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4532D"/>
                </a:solidFill>
                <a:latin typeface="Calibri"/>
                <a:ea typeface="Calibri"/>
                <a:cs typeface="Calibri"/>
              </a:rPr>
              <a:t>MCP server</a:t>
            </a:r>
          </a:p>
          <a:p xmlns:a="http://schemas.openxmlformats.org/drawingml/2006/main">
            <a:pPr algn="ctr">
              <a:buNone/>
            </a:pPr>
            <a:r>
              <a:rPr sz="1300" b="0">
                <a:solidFill>
                  <a:srgbClr val="14532D"/>
                </a:solidFill>
                <a:latin typeface="Calibri"/>
                <a:ea typeface="Calibri"/>
                <a:cs typeface="Calibri"/>
              </a:rPr>
              <a:t>holds NO Salesforce credential</a:t>
            </a:r>
          </a:p>
          <a:p xmlns:a="http://schemas.openxmlformats.org/drawingml/2006/main">
            <a:pPr algn="ctr">
              <a:buNone/>
            </a:pPr>
            <a:r>
              <a:rPr sz="1300" b="0">
                <a:solidFill>
                  <a:srgbClr val="14532D"/>
                </a:solidFill>
                <a:latin typeface="Calibri"/>
                <a:ea typeface="Calibri"/>
                <a:cs typeface="Calibri"/>
              </a:rPr>
              <a:t>identity per chat session</a:t>
            </a:r>
          </a:p>
        </p:txBody>
      </p:sp>
      <p:sp>
        <p:nvSpPr>
          <p:cNvPr id="11" name="Rounded Rectangle 10">
            <a:extLst xmlns:a="http://schemas.openxmlformats.org/drawingml/2006/main">
              <a:ext uri="{FF2B5EF4-FFF2-40B4-BE49-F238E27FC236}">
                <a16:creationId xmlns:a16="http://schemas.microsoft.com/office/drawing/2014/main" id="{69231BEB-40D3-4BA3-B568-D3F805948537}"/>
              </a:ext>
            </a:extLst>
          </p:cNvPr>
          <p:cNvSpPr>
            <a:spLocks xmlns:a="http://schemas.openxmlformats.org/drawingml/2006/main" noGrp="1"/>
          </p:cNvSpPr>
          <p:nvPr/>
        </p:nvSpPr>
        <p:spPr>
          <a:xfrm xmlns:a="http://schemas.openxmlformats.org/drawingml/2006/main">
            <a:off x="7589520" y="2651760"/>
            <a:ext cx="2743200" cy="137160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Identity layer (BFF)</a:t>
            </a:r>
          </a:p>
          <a:p xmlns:a="http://schemas.openxmlformats.org/drawingml/2006/main">
            <a:pPr algn="ctr">
              <a:buNone/>
            </a:pPr>
            <a:r>
              <a:rPr sz="1300" b="0">
                <a:solidFill>
                  <a:srgbClr val="1A1A2E"/>
                </a:solidFill>
                <a:latin typeface="Calibri"/>
                <a:ea typeface="Calibri"/>
                <a:cs typeface="Calibri"/>
              </a:rPr>
              <a:t>holds the token</a:t>
            </a:r>
          </a:p>
          <a:p xmlns:a="http://schemas.openxmlformats.org/drawingml/2006/main">
            <a:pPr algn="ctr">
              <a:buNone/>
            </a:pPr>
            <a:r>
              <a:rPr sz="1300" b="0">
                <a:solidFill>
                  <a:srgbClr val="1A1A2E"/>
                </a:solidFill>
                <a:latin typeface="Calibri"/>
                <a:ea typeface="Calibri"/>
                <a:cs typeface="Calibri"/>
              </a:rPr>
              <a:t>browser never sees it</a:t>
            </a:r>
          </a:p>
        </p:txBody>
      </p:sp>
      <p:sp>
        <p:nvSpPr>
          <p:cNvPr id="12" name="Rounded Rectangle 11">
            <a:extLst xmlns:a="http://schemas.openxmlformats.org/drawingml/2006/main">
              <a:ext uri="{FF2B5EF4-FFF2-40B4-BE49-F238E27FC236}">
                <a16:creationId xmlns:a16="http://schemas.microsoft.com/office/drawing/2014/main" id="{0C935D57-6D23-46E2-8842-97586CE8A9B2}"/>
              </a:ext>
            </a:extLst>
          </p:cNvPr>
          <p:cNvSpPr>
            <a:spLocks xmlns:a="http://schemas.openxmlformats.org/drawingml/2006/main" noGrp="1"/>
          </p:cNvSpPr>
          <p:nvPr/>
        </p:nvSpPr>
        <p:spPr>
          <a:xfrm xmlns:a="http://schemas.openxmlformats.org/drawingml/2006/main">
            <a:off x="3931920" y="4846320"/>
            <a:ext cx="6400800" cy="118872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Salesforce</a:t>
            </a:r>
          </a:p>
          <a:p xmlns:a="http://schemas.openxmlformats.org/drawingml/2006/main">
            <a:pPr algn="ctr">
              <a:buNone/>
            </a:pPr>
            <a:r>
              <a:rPr sz="1300" b="0">
                <a:solidFill>
                  <a:srgbClr val="1A1A2E"/>
                </a:solidFill>
                <a:latin typeface="Calibri"/>
                <a:ea typeface="Calibri"/>
                <a:cs typeface="Calibri"/>
              </a:rPr>
              <a:t>Apex reads the Contact off the token · OWD Private + Sharing Set decide visibility · every write "as user", with channel</a:t>
            </a:r>
          </a:p>
        </p:txBody>
      </p:sp>
      <p:sp>
        <p:nvSpPr>
          <p:cNvPr id="13" name="Connector 12">
            <a:extLst xmlns:a="http://schemas.openxmlformats.org/drawingml/2006/main">
              <a:ext uri="{FF2B5EF4-FFF2-40B4-BE49-F238E27FC236}">
                <a16:creationId xmlns:a16="http://schemas.microsoft.com/office/drawing/2014/main" id="{7E11388B-1111-4A5E-93BD-42ED74713816}"/>
              </a:ext>
            </a:extLst>
          </p:cNvPr>
          <p:cNvSpPr>
            <a:spLocks xmlns:a="http://schemas.openxmlformats.org/drawingml/2006/main" noGrp="1"/>
          </p:cNvSpPr>
          <p:nvPr/>
        </p:nvSpPr>
        <p:spPr>
          <a:xfrm xmlns:a="http://schemas.openxmlformats.org/drawingml/2006/main">
            <a:off x="3017520" y="2446020"/>
            <a:ext cx="914400" cy="89154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185554A-6325-41E9-91A1-9785BFFCDDE6}"/>
              </a:ext>
            </a:extLst>
          </p:cNvPr>
          <p:cNvSpPr>
            <a:spLocks xmlns:a="http://schemas.openxmlformats.org/drawingml/2006/main" noGrp="1"/>
          </p:cNvSpPr>
          <p:nvPr/>
        </p:nvSpPr>
        <p:spPr>
          <a:xfrm xmlns:a="http://schemas.openxmlformats.org/drawingml/2006/main">
            <a:off x="3017520" y="3314700"/>
            <a:ext cx="914400" cy="2286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AF92155E-32E5-44A5-8C00-C9EAB58937EA}"/>
              </a:ext>
            </a:extLst>
          </p:cNvPr>
          <p:cNvSpPr>
            <a:spLocks xmlns:a="http://schemas.openxmlformats.org/drawingml/2006/main" noGrp="1"/>
          </p:cNvSpPr>
          <p:nvPr/>
        </p:nvSpPr>
        <p:spPr>
          <a:xfrm xmlns:a="http://schemas.openxmlformats.org/drawingml/2006/main" flipV="1">
            <a:off x="3017520" y="3337560"/>
            <a:ext cx="914400" cy="84582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6A520491-5A5E-472D-982E-D015D0493D58}"/>
              </a:ext>
            </a:extLst>
          </p:cNvPr>
          <p:cNvSpPr>
            <a:spLocks xmlns:a="http://schemas.openxmlformats.org/drawingml/2006/main" noGrp="1"/>
          </p:cNvSpPr>
          <p:nvPr/>
        </p:nvSpPr>
        <p:spPr>
          <a:xfrm xmlns:a="http://schemas.openxmlformats.org/drawingml/2006/main">
            <a:off x="6858000" y="3337560"/>
            <a:ext cx="73152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D4FD08AD-4494-4B88-86DA-2C52FE466F87}"/>
              </a:ext>
            </a:extLst>
          </p:cNvPr>
          <p:cNvSpPr>
            <a:spLocks xmlns:a="http://schemas.openxmlformats.org/drawingml/2006/main" noGrp="1"/>
          </p:cNvSpPr>
          <p:nvPr/>
        </p:nvSpPr>
        <p:spPr>
          <a:xfrm xmlns:a="http://schemas.openxmlformats.org/drawingml/2006/main">
            <a:off x="8961120" y="4023360"/>
            <a:ext cx="0" cy="82296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3912BBC5-15AA-4C81-859F-D73AE1D25D3A}"/>
              </a:ext>
            </a:extLst>
          </p:cNvPr>
          <p:cNvSpPr>
            <a:spLocks xmlns:a="http://schemas.openxmlformats.org/drawingml/2006/main" noGrp="1"/>
          </p:cNvSpPr>
          <p:nvPr/>
        </p:nvSpPr>
        <p:spPr>
          <a:xfrm xmlns:a="http://schemas.openxmlformats.org/drawingml/2006/main">
            <a:off x="3931920" y="4114800"/>
            <a:ext cx="292608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100" b="0">
                <a:solidFill>
                  <a:srgbClr val="78716C"/>
                </a:solidFill>
                <a:latin typeface="Calibri"/>
                <a:ea typeface="Calibri"/>
                <a:cs typeface="Calibri"/>
              </a:rPr>
              <a:t>tool calls + widget · X-HXL-Channel</a:t>
            </a:r>
          </a:p>
        </p:txBody>
      </p:sp>
      <p:sp>
        <p:nvSpPr>
          <p:cNvPr id="19" name="TextBox 18">
            <a:extLst xmlns:a="http://schemas.openxmlformats.org/drawingml/2006/main">
              <a:ext uri="{FF2B5EF4-FFF2-40B4-BE49-F238E27FC236}">
                <a16:creationId xmlns:a16="http://schemas.microsoft.com/office/drawing/2014/main" id="{D2FC974F-6595-4409-BEAF-08B0975C8F2C}"/>
              </a:ext>
            </a:extLst>
          </p:cNvPr>
          <p:cNvSpPr>
            <a:spLocks xmlns:a="http://schemas.openxmlformats.org/drawingml/2006/main" noGrp="1"/>
          </p:cNvSpPr>
          <p:nvPr/>
        </p:nvSpPr>
        <p:spPr>
          <a:xfrm xmlns:a="http://schemas.openxmlformats.org/drawingml/2006/main">
            <a:off x="7589520" y="4114800"/>
            <a:ext cx="274320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100" b="0">
                <a:solidFill>
                  <a:srgbClr val="78716C"/>
                </a:solidFill>
                <a:latin typeface="Calibri"/>
                <a:ea typeface="Calibri"/>
                <a:cs typeface="Calibri"/>
              </a:rPr>
              <a:t>Bearer, named customer</a:t>
            </a:r>
          </a:p>
        </p:txBody>
      </p:sp>
    </p:spTree>
    <p:extLst>
      <p:ext uri="{BB962C8B-B14F-4D97-AF65-F5344CB8AC3E}">
        <p14:creationId xmlns:p14="http://schemas.microsoft.com/office/powerpoint/2010/main" val="166169024"/>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ABEC972-6B44-4330-881E-E88B360862B1}"/>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2F2F2A59-2619-472B-A3AF-C8B9654E7122}"/>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5</a:t>
            </a:r>
          </a:p>
        </p:txBody>
      </p:sp>
      <p:sp>
        <p:nvSpPr>
          <p:cNvPr id="4" name="TextBox 3">
            <a:extLst xmlns:a="http://schemas.openxmlformats.org/drawingml/2006/main">
              <a:ext uri="{FF2B5EF4-FFF2-40B4-BE49-F238E27FC236}">
                <a16:creationId xmlns:a16="http://schemas.microsoft.com/office/drawing/2014/main" id="{B462219A-5EC0-4B7C-82DF-3210C5269D52}"/>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What is proven</a:t>
            </a:r>
          </a:p>
        </p:txBody>
      </p:sp>
      <p:sp>
        <p:nvSpPr>
          <p:cNvPr id="5" name="TextBox 4">
            <a:extLst xmlns:a="http://schemas.openxmlformats.org/drawingml/2006/main">
              <a:ext uri="{FF2B5EF4-FFF2-40B4-BE49-F238E27FC236}">
                <a16:creationId xmlns:a16="http://schemas.microsoft.com/office/drawing/2014/main" id="{175FA2AE-0633-41E9-86B7-AAD49215D4EE}"/>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Each line verified against the live org through the running software</a:t>
            </a:r>
          </a:p>
        </p:txBody>
      </p:sp>
      <p:sp>
        <p:nvSpPr>
          <p:cNvPr id="6" name="Rectangle 5">
            <a:extLst xmlns:a="http://schemas.openxmlformats.org/drawingml/2006/main">
              <a:ext uri="{FF2B5EF4-FFF2-40B4-BE49-F238E27FC236}">
                <a16:creationId xmlns:a16="http://schemas.microsoft.com/office/drawing/2014/main" id="{D2C0D8E0-2CC4-40AC-A9E6-CA7CE5C6D861}"/>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1965960"/>
          <a:ext xmlns:a="http://schemas.openxmlformats.org/drawingml/2006/main" cx="10972800" cy="4023360"/>
        </p:xfrm>
        <a:graphic xmlns:a="http://schemas.openxmlformats.org/drawingml/2006/main">
          <a:graphicData uri="http://schemas.openxmlformats.org/drawingml/2006/table">
            <a:tbl>
              <a:tblPr firstRow="1" bandRow="1">
                <a:tableStyleId>{5C22544A-7EE6-4342-B048-85BDC9FD1C3A}</a:tableStyleId>
              </a:tblPr>
              <a:tblGrid>
                <a:gridCol w="3291840"/>
                <a:gridCol w="7680960"/>
              </a:tblGrid>
              <a:tr h="365760">
                <a:tc>
                  <a:txBody>
                    <a:bodyPr/>
                    <a:lstStyle/>
                    <a:p>
                      <a:r>
                        <a:rPr sz="1100" b="1">
                          <a:solidFill>
                            <a:srgbClr val="1A1A2E"/>
                          </a:solidFill>
                          <a:latin typeface="Calibri"/>
                          <a:ea typeface="Calibri"/>
                          <a:cs typeface="Calibri"/>
                        </a:rPr>
                        <a:t>Claim</a:t>
                      </a:r>
                    </a:p>
                  </a:txBody>
                  <a:tcPr marL="73152" marR="73152" marT="36576" marB="36576">
                    <a:solidFill>
                      <a:srgbClr val="E8E4DC"/>
                    </a:solidFill>
                  </a:tcPr>
                </a:tc>
                <a:tc>
                  <a:txBody>
                    <a:bodyPr/>
                    <a:lstStyle/>
                    <a:p>
                      <a:r>
                        <a:rPr sz="1100" b="1">
                          <a:solidFill>
                            <a:srgbClr val="1A1A2E"/>
                          </a:solidFill>
                          <a:latin typeface="Calibri"/>
                          <a:ea typeface="Calibri"/>
                          <a:cs typeface="Calibri"/>
                        </a:rPr>
                        <a:t>Evidence</a:t>
                      </a:r>
                    </a:p>
                  </a:txBody>
                  <a:tcPr marL="73152" marR="73152" marT="36576" marB="36576">
                    <a:solidFill>
                      <a:srgbClr val="E8E4DC"/>
                    </a:solidFill>
                  </a:tcPr>
                </a:tc>
              </a:tr>
              <a:tr h="365760">
                <a:tc>
                  <a:txBody>
                    <a:bodyPr/>
                    <a:lstStyle/>
                    <a:p>
                      <a:r>
                        <a:rPr sz="1100" b="0">
                          <a:solidFill>
                            <a:srgbClr val="1A1A2E"/>
                          </a:solidFill>
                          <a:latin typeface="Calibri"/>
                          <a:ea typeface="Calibri"/>
                          <a:cs typeface="Calibri"/>
                        </a:rPr>
                        <a:t>Headless login, no Salesforce page</a:t>
                      </a:r>
                    </a:p>
                  </a:txBody>
                  <a:tcPr marL="73152" marR="73152" marT="36576" marB="36576">
                    <a:solidFill>
                      <a:srgbClr val="FFFDF8"/>
                    </a:solidFill>
                  </a:tcPr>
                </a:tc>
                <a:tc>
                  <a:txBody>
                    <a:bodyPr/>
                    <a:lstStyle/>
                    <a:p>
                      <a:r>
                        <a:rPr sz="1100" b="0">
                          <a:solidFill>
                            <a:srgbClr val="1A1A2E"/>
                          </a:solidFill>
                          <a:latin typeface="Calibri"/>
                          <a:ea typeface="Calibri"/>
                          <a:cs typeface="Calibri"/>
                        </a:rPr>
                        <a:t>PKCE code exchange; the browser never leaves localhost</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Identity is a real person</a:t>
                      </a:r>
                    </a:p>
                  </a:txBody>
                  <a:tcPr marL="73152" marR="73152" marT="36576" marB="36576">
                    <a:solidFill>
                      <a:srgbClr val="F7F4EE"/>
                    </a:solidFill>
                  </a:tcPr>
                </a:tc>
                <a:tc>
                  <a:txBody>
                    <a:bodyPr/>
                    <a:lstStyle/>
                    <a:p>
                      <a:r>
                        <a:rPr sz="1100" b="0">
                          <a:solidFill>
                            <a:srgbClr val="1A1A2E"/>
                          </a:solidFill>
                          <a:latin typeface="Calibri"/>
                          <a:ea typeface="Calibri"/>
                          <a:cs typeface="Calibri"/>
                        </a:rPr>
                        <a:t>Apex reads Contact </a:t>
                      </a:r>
                      <a:r>
                        <a:rPr sz="1000">
                          <a:solidFill>
                            <a:srgbClr val="1A1A2E"/>
                          </a:solidFill>
                          <a:latin typeface="Consolas"/>
                          <a:ea typeface="Consolas"/>
                          <a:cs typeface="Consolas"/>
                        </a:rPr>
                        <a:t>003g800000fQI05AAG</a:t>
                      </a:r>
                      <a:r>
                        <a:rPr sz="1100" b="0">
                          <a:solidFill>
                            <a:srgbClr val="1A1A2E"/>
                          </a:solidFill>
                          <a:latin typeface="Calibri"/>
                          <a:ea typeface="Calibri"/>
                          <a:cs typeface="Calibri"/>
                        </a:rPr>
                        <a:t> off the token; no user id accepted from the caller</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Token custody in the layer</a:t>
                      </a:r>
                    </a:p>
                  </a:txBody>
                  <a:tcPr marL="73152" marR="73152" marT="36576" marB="36576">
                    <a:solidFill>
                      <a:srgbClr val="FFFDF8"/>
                    </a:solidFill>
                  </a:tcPr>
                </a:tc>
                <a:tc>
                  <a:txBody>
                    <a:bodyPr/>
                    <a:lstStyle/>
                    <a:p>
                      <a:r>
                        <a:rPr sz="1100" b="0">
                          <a:solidFill>
                            <a:srgbClr val="1A1A2E"/>
                          </a:solidFill>
                          <a:latin typeface="Calibri"/>
                          <a:ea typeface="Calibri"/>
                          <a:cs typeface="Calibri"/>
                        </a:rPr>
                        <a:t>Browser holds one HttpOnly cookie; </a:t>
                      </a:r>
                      <a:r>
                        <a:rPr sz="1000">
                          <a:solidFill>
                            <a:srgbClr val="1A1A2E"/>
                          </a:solidFill>
                          <a:latin typeface="Consolas"/>
                          <a:ea typeface="Consolas"/>
                          <a:cs typeface="Consolas"/>
                        </a:rPr>
                        <a:t>document.cookie</a:t>
                      </a:r>
                      <a:r>
                        <a:rPr sz="1100" b="0">
                          <a:solidFill>
                            <a:srgbClr val="1A1A2E"/>
                          </a:solidFill>
                          <a:latin typeface="Calibri"/>
                          <a:ea typeface="Calibri"/>
                          <a:cs typeface="Calibri"/>
                        </a:rPr>
                        <a:t> shows nothing useful</a:t>
                      </a:r>
                    </a:p>
                  </a:txBody>
                  <a:tcPr marL="73152" marR="73152" marT="36576" marB="36576">
                    <a:solidFill>
                      <a:srgbClr val="FFFDF8"/>
                    </a:solidFill>
                  </a:tcPr>
                </a:tc>
              </a:tr>
              <a:tr h="365760">
                <a:tc>
                  <a:txBody>
                    <a:bodyPr/>
                    <a:lstStyle/>
                    <a:p>
                      <a:r>
                        <a:rPr sz="1100" b="1">
                          <a:solidFill>
                            <a:srgbClr val="1A1A2E"/>
                          </a:solidFill>
                          <a:latin typeface="Calibri"/>
                          <a:ea typeface="Calibri"/>
                          <a:cs typeface="Calibri"/>
                        </a:rPr>
                        <a:t>Sharing enforced, not filtered</a:t>
                      </a:r>
                    </a:p>
                  </a:txBody>
                  <a:tcPr marL="73152" marR="73152" marT="36576" marB="36576">
                    <a:solidFill>
                      <a:srgbClr val="F7F4EE"/>
                    </a:solidFill>
                  </a:tcPr>
                </a:tc>
                <a:tc>
                  <a:txBody>
                    <a:bodyPr/>
                    <a:lstStyle/>
                    <a:p>
                      <a:r>
                        <a:rPr sz="1100" b="0">
                          <a:solidFill>
                            <a:srgbClr val="1A1A2E"/>
                          </a:solidFill>
                          <a:latin typeface="Calibri"/>
                          <a:ea typeface="Calibri"/>
                          <a:cs typeface="Calibri"/>
                        </a:rPr>
                        <a:t>Grace Hopper's $9,999 order by record Id, no filter in the chain → 404 from the platform</a:t>
                      </a:r>
                    </a:p>
                  </a:txBody>
                  <a:tcPr marL="73152" marR="73152" marT="36576" marB="36576">
                    <a:solidFill>
                      <a:srgbClr val="F7F4EE"/>
                    </a:solidFill>
                  </a:tcPr>
                </a:tc>
              </a:tr>
              <a:tr h="365760">
                <a:tc>
                  <a:txBody>
                    <a:bodyPr/>
                    <a:lstStyle/>
                    <a:p>
                      <a:r>
                        <a:rPr sz="1100" b="1">
                          <a:solidFill>
                            <a:srgbClr val="1A1A2E"/>
                          </a:solidFill>
                          <a:latin typeface="Calibri"/>
                          <a:ea typeface="Calibri"/>
                          <a:cs typeface="Calibri"/>
                        </a:rPr>
                        <a:t>Prompt injection contained</a:t>
                      </a:r>
                    </a:p>
                  </a:txBody>
                  <a:tcPr marL="73152" marR="73152" marT="36576" marB="36576">
                    <a:solidFill>
                      <a:srgbClr val="FFFDF8"/>
                    </a:solidFill>
                  </a:tcPr>
                </a:tc>
                <a:tc>
                  <a:txBody>
                    <a:bodyPr/>
                    <a:lstStyle/>
                    <a:p>
                      <a:r>
                        <a:rPr sz="1100" b="0">
                          <a:solidFill>
                            <a:srgbClr val="1A1A2E"/>
                          </a:solidFill>
                          <a:latin typeface="Calibri"/>
                          <a:ea typeface="Calibri"/>
                          <a:cs typeface="Calibri"/>
                        </a:rPr>
                        <a:t>"List every customer's orders" → unfiltered search → 16 orders, all Ada's</a:t>
                      </a:r>
                    </a:p>
                  </a:txBody>
                  <a:tcPr marL="73152" marR="73152" marT="36576" marB="36576">
                    <a:solidFill>
                      <a:srgbClr val="FFFDF8"/>
                    </a:solidFill>
                  </a:tcPr>
                </a:tc>
              </a:tr>
              <a:tr h="365760">
                <a:tc>
                  <a:txBody>
                    <a:bodyPr/>
                    <a:lstStyle/>
                    <a:p>
                      <a:r>
                        <a:rPr sz="1100" b="1">
                          <a:solidFill>
                            <a:srgbClr val="1A1A2E"/>
                          </a:solidFill>
                          <a:latin typeface="Calibri"/>
                          <a:ea typeface="Calibri"/>
                          <a:cs typeface="Calibri"/>
                        </a:rPr>
                        <a:t>Update under sharing</a:t>
                      </a:r>
                    </a:p>
                  </a:txBody>
                  <a:tcPr marL="73152" marR="73152" marT="36576" marB="36576">
                    <a:solidFill>
                      <a:srgbClr val="F7F4EE"/>
                    </a:solidFill>
                  </a:tcPr>
                </a:tc>
                <a:tc>
                  <a:txBody>
                    <a:bodyPr/>
                    <a:lstStyle/>
                    <a:p>
                      <a:r>
                        <a:rPr sz="1100" b="0">
                          <a:solidFill>
                            <a:srgbClr val="1A1A2E"/>
                          </a:solidFill>
                          <a:latin typeface="Calibri"/>
                          <a:ea typeface="Calibri"/>
                          <a:cs typeface="Calibri"/>
                        </a:rPr>
                        <a:t>Cancel from the card flips a real record; Shipped refused by rule; others' orders invisible</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Per-session identity on agent surfaces</a:t>
                      </a:r>
                    </a:p>
                  </a:txBody>
                  <a:tcPr marL="73152" marR="73152" marT="36576" marB="36576">
                    <a:solidFill>
                      <a:srgbClr val="FFFDF8"/>
                    </a:solidFill>
                  </a:tcPr>
                </a:tc>
                <a:tc>
                  <a:txBody>
                    <a:bodyPr/>
                    <a:lstStyle/>
                    <a:p>
                      <a:r>
                        <a:rPr sz="1100" b="0">
                          <a:solidFill>
                            <a:srgbClr val="1A1A2E"/>
                          </a:solidFill>
                          <a:latin typeface="Calibri"/>
                          <a:ea typeface="Calibri"/>
                          <a:cs typeface="Calibri"/>
                        </a:rPr>
                        <a:t>One server; </a:t>
                      </a:r>
                      <a:r>
                        <a:rPr sz="1000">
                          <a:solidFill>
                            <a:srgbClr val="1A1A2E"/>
                          </a:solidFill>
                          <a:latin typeface="Consolas"/>
                          <a:ea typeface="Consolas"/>
                          <a:cs typeface="Consolas"/>
                        </a:rPr>
                        <a:t>sign_in</a:t>
                      </a:r>
                      <a:r>
                        <a:rPr sz="1100" b="0">
                          <a:solidFill>
                            <a:srgbClr val="1A1A2E"/>
                          </a:solidFill>
                          <a:latin typeface="Calibri"/>
                          <a:ea typeface="Calibri"/>
                          <a:cs typeface="Calibri"/>
                        </a:rPr>
                        <a:t> per chat; </a:t>
                      </a:r>
                      <a:r>
                        <a:rPr sz="1000">
                          <a:solidFill>
                            <a:srgbClr val="1A1A2E"/>
                          </a:solidFill>
                          <a:latin typeface="Consolas"/>
                          <a:ea typeface="Consolas"/>
                          <a:cs typeface="Consolas"/>
                        </a:rPr>
                        <a:t>/sessions</a:t>
                      </a:r>
                      <a:r>
                        <a:rPr sz="1100" b="0">
                          <a:solidFill>
                            <a:srgbClr val="1A1A2E"/>
                          </a:solidFill>
                          <a:latin typeface="Calibri"/>
                          <a:ea typeface="Calibri"/>
                          <a:cs typeface="Calibri"/>
                        </a:rPr>
                        <a:t> shows who is who, no tokens</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Same server, three transports</a:t>
                      </a:r>
                    </a:p>
                  </a:txBody>
                  <a:tcPr marL="73152" marR="73152" marT="36576" marB="36576">
                    <a:solidFill>
                      <a:srgbClr val="F7F4EE"/>
                    </a:solidFill>
                  </a:tcPr>
                </a:tc>
                <a:tc>
                  <a:txBody>
                    <a:bodyPr/>
                    <a:lstStyle/>
                    <a:p>
                      <a:r>
                        <a:rPr sz="1100" b="0">
                          <a:solidFill>
                            <a:srgbClr val="1A1A2E"/>
                          </a:solidFill>
                          <a:latin typeface="Calibri"/>
                          <a:ea typeface="Calibri"/>
                          <a:cs typeface="Calibri"/>
                        </a:rPr>
                        <a:t>stdio (Claude) · HTTPS </a:t>
                      </a:r>
                      <a:r>
                        <a:rPr sz="1000">
                          <a:solidFill>
                            <a:srgbClr val="1A1A2E"/>
                          </a:solidFill>
                          <a:latin typeface="Consolas"/>
                          <a:ea typeface="Consolas"/>
                          <a:cs typeface="Consolas"/>
                        </a:rPr>
                        <a:t>/mcp/chatgpt</a:t>
                      </a:r>
                      <a:r>
                        <a:rPr sz="1100" b="0">
                          <a:solidFill>
                            <a:srgbClr val="1A1A2E"/>
                          </a:solidFill>
                          <a:latin typeface="Calibri"/>
                          <a:ea typeface="Calibri"/>
                          <a:cs typeface="Calibri"/>
                        </a:rPr>
                        <a:t> · </a:t>
                      </a:r>
                      <a:r>
                        <a:rPr sz="1000">
                          <a:solidFill>
                            <a:srgbClr val="1A1A2E"/>
                          </a:solidFill>
                          <a:latin typeface="Consolas"/>
                          <a:ea typeface="Consolas"/>
                          <a:cs typeface="Consolas"/>
                        </a:rPr>
                        <a:t>/mcp/slack</a:t>
                      </a:r>
                      <a:r>
                        <a:rPr sz="1100" b="0">
                          <a:solidFill>
                            <a:srgbClr val="1A1A2E"/>
                          </a:solidFill>
                          <a:latin typeface="Calibri"/>
                          <a:ea typeface="Calibri"/>
                          <a:cs typeface="Calibri"/>
                        </a:rPr>
                        <a:t> — verified over a public URL</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Write-back with audit</a:t>
                      </a:r>
                    </a:p>
                  </a:txBody>
                  <a:tcPr marL="73152" marR="73152" marT="36576" marB="36576">
                    <a:solidFill>
                      <a:srgbClr val="FFFDF8"/>
                    </a:solidFill>
                  </a:tcPr>
                </a:tc>
                <a:tc>
                  <a:txBody>
                    <a:bodyPr/>
                    <a:lstStyle/>
                    <a:p>
                      <a:r>
                        <a:rPr sz="1100" b="0">
                          <a:solidFill>
                            <a:srgbClr val="1A1A2E"/>
                          </a:solidFill>
                          <a:latin typeface="Calibri"/>
                          <a:ea typeface="Calibri"/>
                          <a:cs typeface="Calibri"/>
                        </a:rPr>
                        <a:t>Owner from the token, channel from the layer: </a:t>
                      </a:r>
                      <a:r>
                        <a:rPr sz="1000">
                          <a:solidFill>
                            <a:srgbClr val="1A1A2E"/>
                          </a:solidFill>
                          <a:latin typeface="Consolas"/>
                          <a:ea typeface="Consolas"/>
                          <a:cs typeface="Consolas"/>
                        </a:rPr>
                        <a:t>claude</a:t>
                      </a:r>
                      <a:r>
                        <a:rPr sz="1100" b="0">
                          <a:solidFill>
                            <a:srgbClr val="1A1A2E"/>
                          </a:solidFill>
                          <a:latin typeface="Calibri"/>
                          <a:ea typeface="Calibri"/>
                          <a:cs typeface="Calibri"/>
                        </a:rPr>
                        <a:t>, </a:t>
                      </a:r>
                      <a:r>
                        <a:rPr sz="1000">
                          <a:solidFill>
                            <a:srgbClr val="1A1A2E"/>
                          </a:solidFill>
                          <a:latin typeface="Consolas"/>
                          <a:ea typeface="Consolas"/>
                          <a:cs typeface="Consolas"/>
                        </a:rPr>
                        <a:t>chatgpt</a:t>
                      </a:r>
                      <a:r>
                        <a:rPr sz="1100" b="0">
                          <a:solidFill>
                            <a:srgbClr val="1A1A2E"/>
                          </a:solidFill>
                          <a:latin typeface="Calibri"/>
                          <a:ea typeface="Calibri"/>
                          <a:cs typeface="Calibri"/>
                        </a:rPr>
                        <a:t>, </a:t>
                      </a:r>
                      <a:r>
                        <a:rPr sz="1000">
                          <a:solidFill>
                            <a:srgbClr val="1A1A2E"/>
                          </a:solidFill>
                          <a:latin typeface="Consolas"/>
                          <a:ea typeface="Consolas"/>
                          <a:cs typeface="Consolas"/>
                        </a:rPr>
                        <a:t>slack</a:t>
                      </a:r>
                      <a:r>
                        <a:rPr sz="1100" b="0">
                          <a:solidFill>
                            <a:srgbClr val="1A1A2E"/>
                          </a:solidFill>
                          <a:latin typeface="Calibri"/>
                          <a:ea typeface="Calibri"/>
                          <a:cs typeface="Calibri"/>
                        </a:rPr>
                        <a:t> rows, one owner</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Real MCP host render</a:t>
                      </a:r>
                    </a:p>
                  </a:txBody>
                  <a:tcPr marL="73152" marR="73152" marT="36576" marB="36576">
                    <a:solidFill>
                      <a:srgbClr val="F7F4EE"/>
                    </a:solidFill>
                  </a:tcPr>
                </a:tc>
                <a:tc>
                  <a:txBody>
                    <a:bodyPr/>
                    <a:lstStyle/>
                    <a:p>
                      <a:r>
                        <a:rPr sz="1000">
                          <a:solidFill>
                            <a:srgbClr val="1A1A2E"/>
                          </a:solidFill>
                          <a:latin typeface="Consolas"/>
                          <a:ea typeface="Consolas"/>
                          <a:cs typeface="Consolas"/>
                        </a:rPr>
                        <a:t>Claude Desktop renders the live order card and exposes its actions</a:t>
                      </a:r>
                    </a:p>
                  </a:txBody>
                  <a:tcPr marL="73152" marR="73152" marT="36576" marB="36576">
                    <a:solidFill>
                      <a:srgbClr val="F7F4EE"/>
                    </a:solidFill>
                  </a:tcPr>
                </a:tc>
              </a:tr>
            </a:tbl>
          </a:graphicData>
        </a:graphic>
      </p:graphicFrame>
    </p:spTree>
    <p:extLst>
      <p:ext uri="{BB962C8B-B14F-4D97-AF65-F5344CB8AC3E}">
        <p14:creationId xmlns:p14="http://schemas.microsoft.com/office/powerpoint/2010/main" val="1463007458"/>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1BCF2FF-0763-4E24-9A73-DAEE690C8EBC}"/>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77F87902-15FF-45B6-8F78-EEA14E800F6E}"/>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6</a:t>
            </a:r>
          </a:p>
        </p:txBody>
      </p:sp>
      <p:sp>
        <p:nvSpPr>
          <p:cNvPr id="4" name="TextBox 3">
            <a:extLst xmlns:a="http://schemas.openxmlformats.org/drawingml/2006/main">
              <a:ext uri="{FF2B5EF4-FFF2-40B4-BE49-F238E27FC236}">
                <a16:creationId xmlns:a16="http://schemas.microsoft.com/office/drawing/2014/main" id="{810C722C-573B-4C82-9BFA-14C5DE3BD0C8}"/>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sharing proof, in one picture</a:t>
            </a:r>
          </a:p>
        </p:txBody>
      </p:sp>
      <p:sp>
        <p:nvSpPr>
          <p:cNvPr id="5" name="TextBox 4">
            <a:extLst xmlns:a="http://schemas.openxmlformats.org/drawingml/2006/main">
              <a:ext uri="{FF2B5EF4-FFF2-40B4-BE49-F238E27FC236}">
                <a16:creationId xmlns:a16="http://schemas.microsoft.com/office/drawing/2014/main" id="{41B0BCAF-A617-4367-85FD-B37EEA6FC8DF}"/>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Ada's token vs. Grace Hopper's $9,999 order</a:t>
            </a:r>
          </a:p>
        </p:txBody>
      </p:sp>
      <p:sp>
        <p:nvSpPr>
          <p:cNvPr id="6" name="Rectangle 5">
            <a:extLst xmlns:a="http://schemas.openxmlformats.org/drawingml/2006/main">
              <a:ext uri="{FF2B5EF4-FFF2-40B4-BE49-F238E27FC236}">
                <a16:creationId xmlns:a16="http://schemas.microsoft.com/office/drawing/2014/main" id="{C5EA9CE8-DA24-4F92-BE4A-2BD7C35D7238}"/>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F6799F6D-6801-4F4B-9AD1-0D23E02A61B2}"/>
              </a:ext>
            </a:extLst>
          </p:cNvPr>
          <p:cNvSpPr>
            <a:spLocks xmlns:a="http://schemas.openxmlformats.org/drawingml/2006/main" noGrp="1"/>
          </p:cNvSpPr>
          <p:nvPr/>
        </p:nvSpPr>
        <p:spPr>
          <a:xfrm xmlns:a="http://schemas.openxmlformats.org/drawingml/2006/main">
            <a:off x="640080" y="3017520"/>
            <a:ext cx="2194560" cy="9144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4532D"/>
                </a:solidFill>
                <a:latin typeface="Calibri"/>
                <a:ea typeface="Calibri"/>
                <a:cs typeface="Calibri"/>
              </a:rPr>
              <a:t>Ada's token</a:t>
            </a:r>
          </a:p>
          <a:p xmlns:a="http://schemas.openxmlformats.org/drawingml/2006/main">
            <a:pPr algn="ctr">
              <a:buNone/>
            </a:pPr>
            <a:r>
              <a:rPr sz="1300" b="0">
                <a:solidFill>
                  <a:srgbClr val="14532D"/>
                </a:solidFill>
                <a:latin typeface="Calibri"/>
                <a:ea typeface="Calibri"/>
                <a:cs typeface="Calibri"/>
              </a:rPr>
              <a:t>Contact 003g…fQI05</a:t>
            </a:r>
          </a:p>
        </p:txBody>
      </p:sp>
      <p:sp>
        <p:nvSpPr>
          <p:cNvPr id="8" name="Rounded Rectangle 7">
            <a:extLst xmlns:a="http://schemas.openxmlformats.org/drawingml/2006/main">
              <a:ext uri="{FF2B5EF4-FFF2-40B4-BE49-F238E27FC236}">
                <a16:creationId xmlns:a16="http://schemas.microsoft.com/office/drawing/2014/main" id="{2AE4D3E5-A832-4AE0-9806-326517E3743B}"/>
              </a:ext>
            </a:extLst>
          </p:cNvPr>
          <p:cNvSpPr>
            <a:spLocks xmlns:a="http://schemas.openxmlformats.org/drawingml/2006/main" noGrp="1"/>
          </p:cNvSpPr>
          <p:nvPr/>
        </p:nvSpPr>
        <p:spPr>
          <a:xfrm xmlns:a="http://schemas.openxmlformats.org/drawingml/2006/main">
            <a:off x="9326880" y="3017520"/>
            <a:ext cx="2286000" cy="9144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991B1B"/>
                </a:solidFill>
                <a:latin typeface="Calibri"/>
                <a:ea typeface="Calibri"/>
                <a:cs typeface="Calibri"/>
              </a:rPr>
              <a:t>Grace's order</a:t>
            </a:r>
          </a:p>
          <a:p xmlns:a="http://schemas.openxmlformats.org/drawingml/2006/main">
            <a:pPr algn="ctr">
              <a:buNone/>
            </a:pPr>
            <a:r>
              <a:rPr sz="1300" b="0">
                <a:solidFill>
                  <a:srgbClr val="991B1B"/>
                </a:solidFill>
                <a:latin typeface="Calibri"/>
                <a:ea typeface="Calibri"/>
                <a:cs typeface="Calibri"/>
              </a:rPr>
              <a:t>ORD-00003 · $9,999</a:t>
            </a:r>
          </a:p>
        </p:txBody>
      </p:sp>
      <p:sp>
        <p:nvSpPr>
          <p:cNvPr id="9" name="TextBox 8">
            <a:extLst xmlns:a="http://schemas.openxmlformats.org/drawingml/2006/main">
              <a:ext uri="{FF2B5EF4-FFF2-40B4-BE49-F238E27FC236}">
                <a16:creationId xmlns:a16="http://schemas.microsoft.com/office/drawing/2014/main" id="{F7D2862D-9B93-40AB-B46E-ED9168FFACF0}"/>
              </a:ext>
            </a:extLst>
          </p:cNvPr>
          <p:cNvSpPr>
            <a:spLocks xmlns:a="http://schemas.openxmlformats.org/drawingml/2006/main" noGrp="1"/>
          </p:cNvSpPr>
          <p:nvPr/>
        </p:nvSpPr>
        <p:spPr>
          <a:xfrm xmlns:a="http://schemas.openxmlformats.org/drawingml/2006/main">
            <a:off x="3108960" y="205740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1  Through the app’s list</a:t>
            </a:r>
          </a:p>
        </p:txBody>
      </p:sp>
      <p:sp>
        <p:nvSpPr>
          <p:cNvPr id="10" name="Rounded Rectangle 9">
            <a:extLst xmlns:a="http://schemas.openxmlformats.org/drawingml/2006/main">
              <a:ext uri="{FF2B5EF4-FFF2-40B4-BE49-F238E27FC236}">
                <a16:creationId xmlns:a16="http://schemas.microsoft.com/office/drawing/2014/main" id="{7CAAA2C6-B608-4C22-BDAA-55E7F6163C84}"/>
              </a:ext>
            </a:extLst>
          </p:cNvPr>
          <p:cNvSpPr>
            <a:spLocks xmlns:a="http://schemas.openxmlformats.org/drawingml/2006/main" noGrp="1"/>
          </p:cNvSpPr>
          <p:nvPr/>
        </p:nvSpPr>
        <p:spPr>
          <a:xfrm xmlns:a="http://schemas.openxmlformats.org/drawingml/2006/main">
            <a:off x="7315200" y="203911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absent</a:t>
            </a:r>
          </a:p>
        </p:txBody>
      </p:sp>
      <p:sp>
        <p:nvSpPr>
          <p:cNvPr id="11" name="TextBox 10">
            <a:extLst xmlns:a="http://schemas.openxmlformats.org/drawingml/2006/main">
              <a:ext uri="{FF2B5EF4-FFF2-40B4-BE49-F238E27FC236}">
                <a16:creationId xmlns:a16="http://schemas.microsoft.com/office/drawing/2014/main" id="{F0BABBCE-3160-40D3-B0B2-10B2CDB7057F}"/>
              </a:ext>
            </a:extLst>
          </p:cNvPr>
          <p:cNvSpPr>
            <a:spLocks xmlns:a="http://schemas.openxmlformats.org/drawingml/2006/main" noGrp="1"/>
          </p:cNvSpPr>
          <p:nvPr/>
        </p:nvSpPr>
        <p:spPr>
          <a:xfrm xmlns:a="http://schemas.openxmlformats.org/drawingml/2006/main">
            <a:off x="3108960" y="288036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2  curl, straight at the API, by Id</a:t>
            </a:r>
          </a:p>
        </p:txBody>
      </p:sp>
      <p:sp>
        <p:nvSpPr>
          <p:cNvPr id="12" name="Rounded Rectangle 11">
            <a:extLst xmlns:a="http://schemas.openxmlformats.org/drawingml/2006/main">
              <a:ext uri="{FF2B5EF4-FFF2-40B4-BE49-F238E27FC236}">
                <a16:creationId xmlns:a16="http://schemas.microsoft.com/office/drawing/2014/main" id="{B6FBB4EF-3738-4CB5-A2CC-E962C0D6AFFC}"/>
              </a:ext>
            </a:extLst>
          </p:cNvPr>
          <p:cNvSpPr>
            <a:spLocks xmlns:a="http://schemas.openxmlformats.org/drawingml/2006/main" noGrp="1"/>
          </p:cNvSpPr>
          <p:nvPr/>
        </p:nvSpPr>
        <p:spPr>
          <a:xfrm xmlns:a="http://schemas.openxmlformats.org/drawingml/2006/main">
            <a:off x="7315200" y="286207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404</a:t>
            </a:r>
          </a:p>
        </p:txBody>
      </p:sp>
      <p:sp>
        <p:nvSpPr>
          <p:cNvPr id="13" name="TextBox 12">
            <a:extLst xmlns:a="http://schemas.openxmlformats.org/drawingml/2006/main">
              <a:ext uri="{FF2B5EF4-FFF2-40B4-BE49-F238E27FC236}">
                <a16:creationId xmlns:a16="http://schemas.microsoft.com/office/drawing/2014/main" id="{8ED92B4B-3CFA-4D9E-A8C4-4E397EB2D72D}"/>
              </a:ext>
            </a:extLst>
          </p:cNvPr>
          <p:cNvSpPr>
            <a:spLocks xmlns:a="http://schemas.openxmlformats.org/drawingml/2006/main" noGrp="1"/>
          </p:cNvSpPr>
          <p:nvPr/>
        </p:nvSpPr>
        <p:spPr>
          <a:xfrm xmlns:a="http://schemas.openxmlformats.org/drawingml/2006/main">
            <a:off x="3108960" y="370332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3  In a chat: "show me order ORD-00003"</a:t>
            </a:r>
          </a:p>
        </p:txBody>
      </p:sp>
      <p:sp>
        <p:nvSpPr>
          <p:cNvPr id="14" name="Rounded Rectangle 13">
            <a:extLst xmlns:a="http://schemas.openxmlformats.org/drawingml/2006/main">
              <a:ext uri="{FF2B5EF4-FFF2-40B4-BE49-F238E27FC236}">
                <a16:creationId xmlns:a16="http://schemas.microsoft.com/office/drawing/2014/main" id="{5CE2787B-D7D4-47D4-B67D-CB703206B9DD}"/>
              </a:ext>
            </a:extLst>
          </p:cNvPr>
          <p:cNvSpPr>
            <a:spLocks xmlns:a="http://schemas.openxmlformats.org/drawingml/2006/main" noGrp="1"/>
          </p:cNvSpPr>
          <p:nvPr/>
        </p:nvSpPr>
        <p:spPr>
          <a:xfrm xmlns:a="http://schemas.openxmlformats.org/drawingml/2006/main">
            <a:off x="7315200" y="368503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not found</a:t>
            </a:r>
          </a:p>
        </p:txBody>
      </p:sp>
      <p:sp>
        <p:nvSpPr>
          <p:cNvPr id="15" name="TextBox 14">
            <a:extLst xmlns:a="http://schemas.openxmlformats.org/drawingml/2006/main">
              <a:ext uri="{FF2B5EF4-FFF2-40B4-BE49-F238E27FC236}">
                <a16:creationId xmlns:a16="http://schemas.microsoft.com/office/drawing/2014/main" id="{D58DDF3C-B403-4D42-8E49-63F2DEC4A4B8}"/>
              </a:ext>
            </a:extLst>
          </p:cNvPr>
          <p:cNvSpPr>
            <a:spLocks xmlns:a="http://schemas.openxmlformats.org/drawingml/2006/main" noGrp="1"/>
          </p:cNvSpPr>
          <p:nvPr/>
        </p:nvSpPr>
        <p:spPr>
          <a:xfrm xmlns:a="http://schemas.openxmlformats.org/drawingml/2006/main">
            <a:off x="3108960" y="452628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4  Prompt-injected: "list every customer’s orders"</a:t>
            </a:r>
          </a:p>
        </p:txBody>
      </p:sp>
      <p:sp>
        <p:nvSpPr>
          <p:cNvPr id="16" name="Rounded Rectangle 15">
            <a:extLst xmlns:a="http://schemas.openxmlformats.org/drawingml/2006/main">
              <a:ext uri="{FF2B5EF4-FFF2-40B4-BE49-F238E27FC236}">
                <a16:creationId xmlns:a16="http://schemas.microsoft.com/office/drawing/2014/main" id="{05A2E884-943D-4437-9E65-183BFC488BA2}"/>
              </a:ext>
            </a:extLst>
          </p:cNvPr>
          <p:cNvSpPr>
            <a:spLocks xmlns:a="http://schemas.openxmlformats.org/drawingml/2006/main" noGrp="1"/>
          </p:cNvSpPr>
          <p:nvPr/>
        </p:nvSpPr>
        <p:spPr>
          <a:xfrm xmlns:a="http://schemas.openxmlformats.org/drawingml/2006/main">
            <a:off x="7315200" y="4507992"/>
            <a:ext cx="1737360" cy="4572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14532D"/>
                </a:solidFill>
                <a:latin typeface="Calibri"/>
                <a:ea typeface="Calibri"/>
                <a:cs typeface="Calibri"/>
              </a:rPr>
              <a:t>16 orders — all Ada’s</a:t>
            </a:r>
          </a:p>
        </p:txBody>
      </p:sp>
      <p:sp>
        <p:nvSpPr>
          <p:cNvPr id="17" name="Rounded Rectangle 16">
            <a:extLst xmlns:a="http://schemas.openxmlformats.org/drawingml/2006/main">
              <a:ext uri="{FF2B5EF4-FFF2-40B4-BE49-F238E27FC236}">
                <a16:creationId xmlns:a16="http://schemas.microsoft.com/office/drawing/2014/main" id="{834DAE4D-4C32-42C8-8528-F1ECF479DDEB}"/>
              </a:ext>
            </a:extLst>
          </p:cNvPr>
          <p:cNvSpPr>
            <a:spLocks xmlns:a="http://schemas.openxmlformats.org/drawingml/2006/main" noGrp="1"/>
          </p:cNvSpPr>
          <p:nvPr/>
        </p:nvSpPr>
        <p:spPr>
          <a:xfrm xmlns:a="http://schemas.openxmlformats.org/drawingml/2006/main">
            <a:off x="640080" y="5486400"/>
            <a:ext cx="10972800" cy="64008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500" b="1">
                <a:solidFill>
                  <a:srgbClr val="1A1A2E"/>
                </a:solidFill>
                <a:latin typeface="Calibri"/>
                <a:ea typeface="Calibri"/>
                <a:cs typeface="Calibri"/>
              </a:rPr>
              <a:t>Four ways of asking, one answer. None of the refusals is in code we wrote.</a:t>
            </a:r>
          </a:p>
        </p:txBody>
      </p:sp>
    </p:spTree>
    <p:extLst>
      <p:ext uri="{BB962C8B-B14F-4D97-AF65-F5344CB8AC3E}">
        <p14:creationId xmlns:p14="http://schemas.microsoft.com/office/powerpoint/2010/main" val="7083709"/>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C59B59D-7F09-4C3A-8D43-AC7711D7AC25}"/>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B35EFA50-617D-4BCE-A0F7-F42FEAA74071}"/>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7</a:t>
            </a:r>
          </a:p>
        </p:txBody>
      </p:sp>
      <p:sp>
        <p:nvSpPr>
          <p:cNvPr id="4" name="TextBox 3">
            <a:extLst xmlns:a="http://schemas.openxmlformats.org/drawingml/2006/main">
              <a:ext uri="{FF2B5EF4-FFF2-40B4-BE49-F238E27FC236}">
                <a16:creationId xmlns:a16="http://schemas.microsoft.com/office/drawing/2014/main" id="{16523AEF-8843-4DC3-95E2-FA3ECAFC6F9D}"/>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finding that made the last slide honest</a:t>
            </a:r>
          </a:p>
        </p:txBody>
      </p:sp>
      <p:sp>
        <p:nvSpPr>
          <p:cNvPr id="5" name="TextBox 4">
            <a:extLst xmlns:a="http://schemas.openxmlformats.org/drawingml/2006/main">
              <a:ext uri="{FF2B5EF4-FFF2-40B4-BE49-F238E27FC236}">
                <a16:creationId xmlns:a16="http://schemas.microsoft.com/office/drawing/2014/main" id="{F5515F2C-6D9E-4840-9E6D-566ED12C24A3}"/>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For a week, slide 6 was false — and nothing in the demo would have shown it</a:t>
            </a:r>
          </a:p>
        </p:txBody>
      </p:sp>
      <p:sp>
        <p:nvSpPr>
          <p:cNvPr id="6" name="Rectangle 5">
            <a:extLst xmlns:a="http://schemas.openxmlformats.org/drawingml/2006/main">
              <a:ext uri="{FF2B5EF4-FFF2-40B4-BE49-F238E27FC236}">
                <a16:creationId xmlns:a16="http://schemas.microsoft.com/office/drawing/2014/main" id="{496F2148-906A-4D05-BF98-171253CC4965}"/>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3AB4B513-8D31-45DC-8CDE-3E7B78A0FCBD}"/>
              </a:ext>
            </a:extLst>
          </p:cNvPr>
          <p:cNvSpPr>
            <a:spLocks xmlns:a="http://schemas.openxmlformats.org/drawingml/2006/main" noGrp="1"/>
          </p:cNvSpPr>
          <p:nvPr/>
        </p:nvSpPr>
        <p:spPr>
          <a:xfrm xmlns:a="http://schemas.openxmlformats.org/drawingml/2006/main">
            <a:off x="640080" y="2103120"/>
            <a:ext cx="10972800" cy="3200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700" b="0">
                <a:solidFill>
                  <a:srgbClr val="1A1A2E"/>
                </a:solidFill>
                <a:latin typeface="Calibri"/>
                <a:ea typeface="Calibri"/>
                <a:cs typeface="Calibri"/>
              </a:rPr>
              <a:t>•  The customer profile had </a:t>
            </a:r>
            <a:r>
              <a:rPr sz="1700" b="1">
                <a:solidFill>
                  <a:srgbClr val="1A1A2E"/>
                </a:solidFill>
                <a:latin typeface="Calibri"/>
                <a:ea typeface="Calibri"/>
                <a:cs typeface="Calibri"/>
              </a:rPr>
              <a:t>View All Records</a:t>
            </a:r>
            <a:r>
              <a:rPr sz="1700" b="0">
                <a:solidFill>
                  <a:srgbClr val="1A1A2E"/>
                </a:solidFill>
                <a:latin typeface="Calibri"/>
                <a:ea typeface="Calibri"/>
                <a:cs typeface="Calibri"/>
              </a:rPr>
              <a:t> on the order object. View All bypasses sharing entirely.</a:t>
            </a:r>
          </a:p>
          <a:p xmlns:a="http://schemas.openxmlformats.org/drawingml/2006/main">
            <a:pPr>
              <a:spcAft>
                <a:spcPts val="1000"/>
              </a:spcAft>
              <a:buNone/>
            </a:pPr>
            <a:r>
              <a:rPr sz="1700" b="0">
                <a:solidFill>
                  <a:srgbClr val="1A1A2E"/>
                </a:solidFill>
                <a:latin typeface="Calibri"/>
                <a:ea typeface="Calibri"/>
                <a:cs typeface="Calibri"/>
              </a:rPr>
              <a:t>•  Every earlier "proof" filtered the query by Contact. It looked like sharing. It was a WHERE clause.</a:t>
            </a:r>
          </a:p>
          <a:p xmlns:a="http://schemas.openxmlformats.org/drawingml/2006/main">
            <a:pPr>
              <a:spcAft>
                <a:spcPts val="1000"/>
              </a:spcAft>
              <a:buNone/>
            </a:pPr>
            <a:r>
              <a:rPr sz="1700" b="0">
                <a:solidFill>
                  <a:srgbClr val="1A1A2E"/>
                </a:solidFill>
                <a:latin typeface="Calibri"/>
                <a:ea typeface="Calibri"/>
                <a:cs typeface="Calibri"/>
              </a:rPr>
              <a:t>•  Found the moment a tool asked for a record </a:t>
            </a:r>
            <a:r>
              <a:rPr sz="1700" b="1">
                <a:solidFill>
                  <a:srgbClr val="1A1A2E"/>
                </a:solidFill>
                <a:latin typeface="Calibri"/>
                <a:ea typeface="Calibri"/>
                <a:cs typeface="Calibri"/>
              </a:rPr>
              <a:t>by Id with no filter</a:t>
            </a:r>
            <a:r>
              <a:rPr sz="1700" b="0">
                <a:solidFill>
                  <a:srgbClr val="1A1A2E"/>
                </a:solidFill>
                <a:latin typeface="Calibri"/>
                <a:ea typeface="Calibri"/>
                <a:cs typeface="Calibri"/>
              </a:rPr>
              <a:t> — Ada got Grace’s $9,999 order back.</a:t>
            </a:r>
          </a:p>
          <a:p xmlns:a="http://schemas.openxmlformats.org/drawingml/2006/main">
            <a:pPr>
              <a:spcAft>
                <a:spcPts val="1000"/>
              </a:spcAft>
              <a:buNone/>
            </a:pPr>
            <a:r>
              <a:rPr sz="1700" b="0">
                <a:solidFill>
                  <a:srgbClr val="1A1A2E"/>
                </a:solidFill>
                <a:latin typeface="Calibri"/>
                <a:ea typeface="Calibri"/>
                <a:cs typeface="Calibri"/>
              </a:rPr>
              <a:t>•  Fixed with the platform’s own mechanism: a </a:t>
            </a:r>
            <a:r>
              <a:rPr sz="1700" b="1">
                <a:solidFill>
                  <a:srgbClr val="1A1A2E"/>
                </a:solidFill>
                <a:latin typeface="Calibri"/>
                <a:ea typeface="Calibri"/>
                <a:cs typeface="Calibri"/>
              </a:rPr>
              <a:t>Sharing Set</a:t>
            </a:r>
            <a:r>
              <a:rPr sz="1700" b="0">
                <a:solidFill>
                  <a:srgbClr val="1A1A2E"/>
                </a:solidFill>
                <a:latin typeface="Calibri"/>
                <a:ea typeface="Calibri"/>
                <a:cs typeface="Calibri"/>
              </a:rPr>
              <a:t> (customer → orders linked to their Contact) and View All off. In source, deployed, re-verified from the agent surface.</a:t>
            </a:r>
          </a:p>
        </p:txBody>
      </p:sp>
      <p:sp>
        <p:nvSpPr>
          <p:cNvPr id="8" name="Rounded Rectangle 7">
            <a:extLst xmlns:a="http://schemas.openxmlformats.org/drawingml/2006/main">
              <a:ext uri="{FF2B5EF4-FFF2-40B4-BE49-F238E27FC236}">
                <a16:creationId xmlns:a16="http://schemas.microsoft.com/office/drawing/2014/main" id="{83B00A7F-92D3-44CA-BB95-CD13B08F47D8}"/>
              </a:ext>
            </a:extLst>
          </p:cNvPr>
          <p:cNvSpPr>
            <a:spLocks xmlns:a="http://schemas.openxmlformats.org/drawingml/2006/main" noGrp="1"/>
          </p:cNvSpPr>
          <p:nvPr/>
        </p:nvSpPr>
        <p:spPr>
          <a:xfrm xmlns:a="http://schemas.openxmlformats.org/drawingml/2006/main">
            <a:off x="640080" y="5212080"/>
            <a:ext cx="10972800" cy="82296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600" b="1">
                <a:solidFill>
                  <a:srgbClr val="1A1A2E"/>
                </a:solidFill>
                <a:latin typeface="Calibri"/>
                <a:ea typeface="Calibri"/>
                <a:cs typeface="Calibri"/>
              </a:rPr>
              <a:t>Lesson: a sharing claim is only real if something in the demo asks without filtering and is refused.</a:t>
            </a:r>
          </a:p>
        </p:txBody>
      </p:sp>
    </p:spTree>
    <p:extLst>
      <p:ext uri="{BB962C8B-B14F-4D97-AF65-F5344CB8AC3E}">
        <p14:creationId xmlns:p14="http://schemas.microsoft.com/office/powerpoint/2010/main" val="2026919006"/>
      </p:ext>
    </p:extLst>
  </p:cSld>
</p:sld>
</file>

<file path=ppt/slides/slide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210156A-F0FD-48E6-BA3B-366186E81A35}"/>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8D392E4E-D381-4E8B-A2A1-0305B9E36A39}"/>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8</a:t>
            </a:r>
          </a:p>
        </p:txBody>
      </p:sp>
      <p:sp>
        <p:nvSpPr>
          <p:cNvPr id="4" name="TextBox 3">
            <a:extLst xmlns:a="http://schemas.openxmlformats.org/drawingml/2006/main">
              <a:ext uri="{FF2B5EF4-FFF2-40B4-BE49-F238E27FC236}">
                <a16:creationId xmlns:a16="http://schemas.microsoft.com/office/drawing/2014/main" id="{B30DD599-4B21-474D-A9AB-EAF8A0EE5D16}"/>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One widget, many hosts</a:t>
            </a:r>
          </a:p>
        </p:txBody>
      </p:sp>
      <p:sp>
        <p:nvSpPr>
          <p:cNvPr id="5" name="TextBox 4">
            <a:extLst xmlns:a="http://schemas.openxmlformats.org/drawingml/2006/main">
              <a:ext uri="{FF2B5EF4-FFF2-40B4-BE49-F238E27FC236}">
                <a16:creationId xmlns:a16="http://schemas.microsoft.com/office/drawing/2014/main" id="{4C540C1C-D312-4971-A5EF-A7C9E76F3B22}"/>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One server supports local and hosted MCP transports. Host access depends on product plans.</a:t>
            </a:r>
          </a:p>
        </p:txBody>
      </p:sp>
      <p:sp>
        <p:nvSpPr>
          <p:cNvPr id="6" name="Rectangle 5">
            <a:extLst xmlns:a="http://schemas.openxmlformats.org/drawingml/2006/main">
              <a:ext uri="{FF2B5EF4-FFF2-40B4-BE49-F238E27FC236}">
                <a16:creationId xmlns:a16="http://schemas.microsoft.com/office/drawing/2014/main" id="{FBA55631-5866-41F0-A97B-66519F4ACBDA}"/>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2011680"/>
          <a:ext xmlns:a="http://schemas.openxmlformats.org/drawingml/2006/main" cx="10972800" cy="3291839"/>
        </p:xfrm>
        <a:graphic xmlns:a="http://schemas.openxmlformats.org/drawingml/2006/main">
          <a:graphicData uri="http://schemas.openxmlformats.org/drawingml/2006/table">
            <a:tbl>
              <a:tblPr firstRow="1" bandRow="1">
                <a:tableStyleId>{5C22544A-7EE6-4342-B048-85BDC9FD1C3A}</a:tableStyleId>
              </a:tblPr>
              <a:tblGrid>
                <a:gridCol w="2011680"/>
                <a:gridCol w="5760720"/>
                <a:gridCol w="3200400"/>
              </a:tblGrid>
              <a:tr h="548639">
                <a:tc>
                  <a:txBody>
                    <a:bodyPr/>
                    <a:lstStyle/>
                    <a:p>
                      <a:r>
                        <a:rPr sz="1300" b="1">
                          <a:solidFill>
                            <a:srgbClr val="1A1A2E"/>
                          </a:solidFill>
                          <a:latin typeface="Calibri"/>
                          <a:ea typeface="Calibri"/>
                          <a:cs typeface="Calibri"/>
                        </a:rPr>
                        <a:t>Host</a:t>
                      </a:r>
                    </a:p>
                  </a:txBody>
                  <a:tcPr marL="73152" marR="73152" marT="36576" marB="36576">
                    <a:solidFill>
                      <a:srgbClr val="E8E4DC"/>
                    </a:solidFill>
                  </a:tcPr>
                </a:tc>
                <a:tc>
                  <a:txBody>
                    <a:bodyPr/>
                    <a:lstStyle/>
                    <a:p>
                      <a:r>
                        <a:rPr sz="1300" b="1">
                          <a:solidFill>
                            <a:srgbClr val="1A1A2E"/>
                          </a:solidFill>
                          <a:latin typeface="Calibri"/>
                          <a:ea typeface="Calibri"/>
                          <a:cs typeface="Calibri"/>
                        </a:rPr>
                        <a:t>Route</a:t>
                      </a:r>
                    </a:p>
                  </a:txBody>
                  <a:tcPr marL="73152" marR="73152" marT="36576" marB="36576">
                    <a:solidFill>
                      <a:srgbClr val="E8E4DC"/>
                    </a:solidFill>
                  </a:tcPr>
                </a:tc>
                <a:tc>
                  <a:txBody>
                    <a:bodyPr/>
                    <a:lstStyle/>
                    <a:p>
                      <a:r>
                        <a:rPr sz="1300" b="1">
                          <a:solidFill>
                            <a:srgbClr val="1A1A2E"/>
                          </a:solidFill>
                          <a:latin typeface="Calibri"/>
                          <a:ea typeface="Calibri"/>
                          <a:cs typeface="Calibri"/>
                        </a:rPr>
                        <a:t>Status today</a:t>
                      </a:r>
                    </a:p>
                  </a:txBody>
                  <a:tcPr marL="73152" marR="73152" marT="36576" marB="36576">
                    <a:solidFill>
                      <a:srgbClr val="E8E4DC"/>
                    </a:solidFill>
                  </a:tcPr>
                </a:tc>
              </a:tr>
              <a:tr h="548639">
                <a:tc>
                  <a:txBody>
                    <a:bodyPr/>
                    <a:lstStyle/>
                    <a:p>
                      <a:r>
                        <a:rPr sz="1300" b="0">
                          <a:solidFill>
                            <a:srgbClr val="1A1A2E"/>
                          </a:solidFill>
                          <a:latin typeface="Calibri"/>
                          <a:ea typeface="Calibri"/>
                          <a:cs typeface="Calibri"/>
                        </a:rPr>
                        <a:t>Claude Desktop</a:t>
                      </a:r>
                    </a:p>
                  </a:txBody>
                  <a:tcPr marL="73152" marR="73152" marT="36576" marB="36576">
                    <a:solidFill>
                      <a:srgbClr val="FFFDF8"/>
                    </a:solidFill>
                  </a:tcPr>
                </a:tc>
                <a:tc>
                  <a:txBody>
                    <a:bodyPr/>
                    <a:lstStyle/>
                    <a:p>
                      <a:r>
                        <a:rPr sz="1300" b="0">
                          <a:solidFill>
                            <a:srgbClr val="1A1A2E"/>
                          </a:solidFill>
                          <a:latin typeface="Calibri"/>
                          <a:ea typeface="Calibri"/>
                          <a:cs typeface="Calibri"/>
                        </a:rPr>
                        <a:t>stdio, local process</a:t>
                      </a:r>
                    </a:p>
                  </a:txBody>
                  <a:tcPr marL="73152" marR="73152" marT="36576" marB="36576">
                    <a:solidFill>
                      <a:srgbClr val="FFFDF8"/>
                    </a:solidFill>
                  </a:tcPr>
                </a:tc>
                <a:tc>
                  <a:txBody>
                    <a:bodyPr/>
                    <a:lstStyle/>
                    <a:p>
                      <a:r>
                        <a:rPr sz="1300" b="1">
                          <a:solidFill>
                            <a:srgbClr val="1A1A2E"/>
                          </a:solidFill>
                          <a:latin typeface="Calibri"/>
                          <a:ea typeface="Calibri"/>
                          <a:cs typeface="Calibri"/>
                        </a:rPr>
                        <a:t>Verified: live card and tools</a:t>
                      </a:r>
                    </a:p>
                  </a:txBody>
                  <a:tcPr marL="73152" marR="73152" marT="36576" marB="36576">
                    <a:solidFill>
                      <a:srgbClr val="FFFDF8"/>
                    </a:solidFill>
                  </a:tcPr>
                </a:tc>
              </a:tr>
              <a:tr h="548639">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HTTPS, Developer Mode</a:t>
                      </a:r>
                    </a:p>
                  </a:txBody>
                  <a:tcPr marL="73152" marR="73152" marT="36576" marB="36576">
                    <a:solidFill>
                      <a:srgbClr val="F7F4EE"/>
                    </a:solidFill>
                  </a:tcPr>
                </a:tc>
                <a:tc>
                  <a:txBody>
                    <a:bodyPr/>
                    <a:lstStyle/>
                    <a:p>
                      <a:r>
                        <a:rPr sz="1300" b="1">
                          <a:solidFill>
                            <a:srgbClr val="1A1A2E"/>
                          </a:solidFill>
                          <a:latin typeface="Calibri"/>
                          <a:ea typeface="Calibri"/>
                          <a:cs typeface="Calibri"/>
                        </a:rPr>
                        <a:t>Account does not expose custom MCP</a:t>
                      </a:r>
                    </a:p>
                  </a:txBody>
                  <a:tcPr marL="73152" marR="73152" marT="36576" marB="36576">
                    <a:solidFill>
                      <a:srgbClr val="F7F4EE"/>
                    </a:solidFill>
                  </a:tcPr>
                </a:tc>
              </a:tr>
              <a:tr h="548639">
                <a:tc>
                  <a:txBody>
                    <a:bodyPr/>
                    <a:lstStyle/>
                    <a:p>
                      <a:r>
                        <a:rPr sz="1300" b="0">
                          <a:solidFill>
                            <a:srgbClr val="1A1A2E"/>
                          </a:solidFill>
                          <a:latin typeface="Calibri"/>
                          <a:ea typeface="Calibri"/>
                          <a:cs typeface="Calibri"/>
                        </a:rPr>
                        <a:t>Slack</a:t>
                      </a:r>
                    </a:p>
                  </a:txBody>
                  <a:tcPr marL="73152" marR="73152" marT="36576" marB="36576">
                    <a:solidFill>
                      <a:srgbClr val="FFFDF8"/>
                    </a:solidFill>
                  </a:tcPr>
                </a:tc>
                <a:tc>
                  <a:txBody>
                    <a:bodyPr/>
                    <a:lstStyle/>
                    <a:p>
                      <a:r>
                        <a:rPr sz="1300" b="1">
                          <a:solidFill>
                            <a:srgbClr val="1A1A2E"/>
                          </a:solidFill>
                          <a:latin typeface="Calibri"/>
                          <a:ea typeface="Calibri"/>
                          <a:cs typeface="Calibri"/>
                        </a:rPr>
                        <a:t>HTTPS, Slackbot MCP Apps</a:t>
                      </a:r>
                    </a:p>
                  </a:txBody>
                  <a:tcPr marL="73152" marR="73152" marT="36576" marB="36576">
                    <a:solidFill>
                      <a:srgbClr val="FFFDF8"/>
                    </a:solidFill>
                  </a:tcPr>
                </a:tc>
                <a:tc>
                  <a:txBody>
                    <a:bodyPr/>
                    <a:lstStyle/>
                    <a:p>
                      <a:r>
                        <a:rPr sz="1300" b="0">
                          <a:solidFill>
                            <a:srgbClr val="1A1A2E"/>
                          </a:solidFill>
                          <a:latin typeface="Calibri"/>
                          <a:ea typeface="Calibri"/>
                          <a:cs typeface="Calibri"/>
                        </a:rPr>
                        <a:t>App configured; Slackbot disabled by plan</a:t>
                      </a:r>
                    </a:p>
                  </a:txBody>
                  <a:tcPr marL="73152" marR="73152" marT="36576" marB="36576">
                    <a:solidFill>
                      <a:srgbClr val="FFFDF8"/>
                    </a:solidFill>
                  </a:tcPr>
                </a:tc>
              </a:tr>
              <a:tr h="548639">
                <a:tc>
                  <a:txBody>
                    <a:bodyPr/>
                    <a:lstStyle/>
                    <a:p>
                      <a:r>
                        <a:rPr sz="1300" b="0">
                          <a:solidFill>
                            <a:srgbClr val="1A1A2E"/>
                          </a:solidFill>
                          <a:latin typeface="Calibri"/>
                          <a:ea typeface="Calibri"/>
                          <a:cs typeface="Calibri"/>
                        </a:rPr>
                        <a:t>Codex</a:t>
                      </a:r>
                    </a:p>
                  </a:txBody>
                  <a:tcPr marL="73152" marR="73152" marT="36576" marB="36576">
                    <a:solidFill>
                      <a:srgbClr val="F7F4EE"/>
                    </a:solidFill>
                  </a:tcPr>
                </a:tc>
                <a:tc>
                  <a:txBody>
                    <a:bodyPr/>
                    <a:lstStyle/>
                    <a:p>
                      <a:r>
                        <a:rPr sz="1300" b="0">
                          <a:solidFill>
                            <a:srgbClr val="1A1A2E"/>
                          </a:solidFill>
                          <a:latin typeface="Calibri"/>
                          <a:ea typeface="Calibri"/>
                          <a:cs typeface="Calibri"/>
                        </a:rPr>
                        <a:t>HTTPS or stdio</a:t>
                      </a:r>
                    </a:p>
                  </a:txBody>
                  <a:tcPr marL="73152" marR="73152" marT="36576" marB="36576">
                    <a:solidFill>
                      <a:srgbClr val="F7F4EE"/>
                    </a:solidFill>
                  </a:tcPr>
                </a:tc>
                <a:tc>
                  <a:txBody>
                    <a:bodyPr/>
                    <a:lstStyle/>
                    <a:p>
                      <a:r>
                        <a:rPr sz="1300" b="0">
                          <a:solidFill>
                            <a:srgbClr val="1A1A2E"/>
                          </a:solidFill>
                          <a:latin typeface="Calibri"/>
                          <a:ea typeface="Calibri"/>
                          <a:cs typeface="Calibri"/>
                        </a:rPr>
                        <a:t>Tools verified; terminal has no card renderer</a:t>
                      </a:r>
                    </a:p>
                  </a:txBody>
                  <a:tcPr marL="73152" marR="73152" marT="36576" marB="36576">
                    <a:solidFill>
                      <a:srgbClr val="F7F4EE"/>
                    </a:solidFill>
                  </a:tcPr>
                </a:tc>
              </a:tr>
              <a:tr h="548644">
                <a:tc>
                  <a:txBody>
                    <a:bodyPr/>
                    <a:lstStyle/>
                    <a:p>
                      <a:r>
                        <a:rPr sz="1300" b="0">
                          <a:solidFill>
                            <a:srgbClr val="1A1A2E"/>
                          </a:solidFill>
                          <a:latin typeface="Calibri"/>
                          <a:ea typeface="Calibri"/>
                          <a:cs typeface="Calibri"/>
                        </a:rPr>
                        <a:t>Agentforce</a:t>
                      </a:r>
                    </a:p>
                  </a:txBody>
                  <a:tcPr marL="73152" marR="73152" marT="36576" marB="36576">
                    <a:solidFill>
                      <a:srgbClr val="FFFDF8"/>
                    </a:solidFill>
                  </a:tcPr>
                </a:tc>
                <a:tc>
                  <a:txBody>
                    <a:bodyPr/>
                    <a:lstStyle/>
                    <a:p>
                      <a:r>
                        <a:rPr sz="1300" b="0">
                          <a:solidFill>
                            <a:srgbClr val="1A1A2E"/>
                          </a:solidFill>
                          <a:latin typeface="Calibri"/>
                          <a:ea typeface="Calibri"/>
                          <a:cs typeface="Calibri"/>
                        </a:rPr>
                        <a:t>CLT and renderer.json</a:t>
                      </a:r>
                    </a:p>
                  </a:txBody>
                  <a:tcPr marL="73152" marR="73152" marT="36576" marB="36576">
                    <a:solidFill>
                      <a:srgbClr val="FFFDF8"/>
                    </a:solidFill>
                  </a:tcPr>
                </a:tc>
                <a:tc>
                  <a:txBody>
                    <a:bodyPr/>
                    <a:lstStyle/>
                    <a:p>
                      <a:r>
                        <a:rPr sz="1300" b="0">
                          <a:solidFill>
                            <a:srgbClr val="1A1A2E"/>
                          </a:solidFill>
                          <a:latin typeface="Calibri"/>
                          <a:ea typeface="Calibri"/>
                          <a:cs typeface="Calibri"/>
                        </a:rPr>
                        <a:t>Not attempted in this phase</a:t>
                      </a:r>
                    </a:p>
                  </a:txBody>
                  <a:tcPr marL="73152" marR="73152" marT="36576" marB="36576">
                    <a:solidFill>
                      <a:srgbClr val="FFFDF8"/>
                    </a:solidFill>
                  </a:tcPr>
                </a:tc>
              </a:tr>
            </a:tbl>
          </a:graphicData>
        </a:graphic>
      </p:graphicFrame>
    </p:spTree>
    <p:extLst>
      <p:ext uri="{BB962C8B-B14F-4D97-AF65-F5344CB8AC3E}">
        <p14:creationId xmlns:p14="http://schemas.microsoft.com/office/powerpoint/2010/main" val="120997375"/>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2CA0962-789A-4650-B4FE-E399266AD7FE}"/>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3D46D0A1-E5FB-4F3E-92D0-68BF62089F35}"/>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9</a:t>
            </a:r>
          </a:p>
        </p:txBody>
      </p:sp>
      <p:sp>
        <p:nvSpPr>
          <p:cNvPr id="4" name="TextBox 3">
            <a:extLst xmlns:a="http://schemas.openxmlformats.org/drawingml/2006/main">
              <a:ext uri="{FF2B5EF4-FFF2-40B4-BE49-F238E27FC236}">
                <a16:creationId xmlns:a16="http://schemas.microsoft.com/office/drawing/2014/main" id="{CE5FCAD4-AEB6-492C-85B2-854C756BB6EC}"/>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Governance of the write-back</a:t>
            </a:r>
          </a:p>
        </p:txBody>
      </p:sp>
      <p:sp>
        <p:nvSpPr>
          <p:cNvPr id="5" name="TextBox 4">
            <a:extLst xmlns:a="http://schemas.openxmlformats.org/drawingml/2006/main">
              <a:ext uri="{FF2B5EF4-FFF2-40B4-BE49-F238E27FC236}">
                <a16:creationId xmlns:a16="http://schemas.microsoft.com/office/drawing/2014/main" id="{3676355A-59AE-4A9E-9601-1FDD1B6F5D6B}"/>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Owner from the token. Channel from the layer. Never from the model.</a:t>
            </a:r>
          </a:p>
        </p:txBody>
      </p:sp>
      <p:sp>
        <p:nvSpPr>
          <p:cNvPr id="6" name="Rectangle 5">
            <a:extLst xmlns:a="http://schemas.openxmlformats.org/drawingml/2006/main">
              <a:ext uri="{FF2B5EF4-FFF2-40B4-BE49-F238E27FC236}">
                <a16:creationId xmlns:a16="http://schemas.microsoft.com/office/drawing/2014/main" id="{118CC340-F6E3-48C4-A3A8-097F6CD0CE6A}"/>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6" name="Table 6"/>
          <p:cNvGraphicFramePr/>
          <p:nvPr/>
        </p:nvGraphicFramePr>
        <p:xfrm>
          <a:off xmlns:a="http://schemas.openxmlformats.org/drawingml/2006/main" x="640080" y="2011680"/>
          <a:ext xmlns:a="http://schemas.openxmlformats.org/drawingml/2006/main" cx="6583680" cy="2468880"/>
        </p:xfrm>
        <a:graphic xmlns:a="http://schemas.openxmlformats.org/drawingml/2006/main">
          <a:graphicData uri="http://schemas.openxmlformats.org/drawingml/2006/table">
            <a:tbl>
              <a:tblPr firstRow="1" bandRow="1">
                <a:tableStyleId>{5C22544A-7EE6-4342-B048-85BDC9FD1C3A}</a:tableStyleId>
              </a:tblPr>
              <a:tblGrid>
                <a:gridCol w="1645920"/>
                <a:gridCol w="1828800"/>
                <a:gridCol w="1463040"/>
                <a:gridCol w="1645920"/>
              </a:tblGrid>
              <a:tr h="411480">
                <a:tc>
                  <a:txBody>
                    <a:bodyPr/>
                    <a:lstStyle/>
                    <a:p>
                      <a:r>
                        <a:rPr sz="1300" b="1">
                          <a:solidFill>
                            <a:srgbClr val="1A1A2E"/>
                          </a:solidFill>
                          <a:latin typeface="Calibri"/>
                          <a:ea typeface="Calibri"/>
                          <a:cs typeface="Calibri"/>
                        </a:rPr>
                        <a:t>Name</a:t>
                      </a:r>
                    </a:p>
                  </a:txBody>
                  <a:tcPr marL="73152" marR="73152" marT="36576" marB="36576">
                    <a:solidFill>
                      <a:srgbClr val="E8E4DC"/>
                    </a:solidFill>
                  </a:tcPr>
                </a:tc>
                <a:tc>
                  <a:txBody>
                    <a:bodyPr/>
                    <a:lstStyle/>
                    <a:p>
                      <a:r>
                        <a:rPr sz="1300" b="1">
                          <a:solidFill>
                            <a:srgbClr val="1A1A2E"/>
                          </a:solidFill>
                          <a:latin typeface="Calibri"/>
                          <a:ea typeface="Calibri"/>
                          <a:cs typeface="Calibri"/>
                        </a:rPr>
                        <a:t>Owner Contact</a:t>
                      </a:r>
                    </a:p>
                  </a:txBody>
                  <a:tcPr marL="73152" marR="73152" marT="36576" marB="36576">
                    <a:solidFill>
                      <a:srgbClr val="E8E4DC"/>
                    </a:solidFill>
                  </a:tcPr>
                </a:tc>
                <a:tc>
                  <a:txBody>
                    <a:bodyPr/>
                    <a:lstStyle/>
                    <a:p>
                      <a:r>
                        <a:rPr sz="1300" b="1">
                          <a:solidFill>
                            <a:srgbClr val="1A1A2E"/>
                          </a:solidFill>
                          <a:latin typeface="Calibri"/>
                          <a:ea typeface="Calibri"/>
                          <a:cs typeface="Calibri"/>
                        </a:rPr>
                        <a:t>Channel</a:t>
                      </a:r>
                    </a:p>
                  </a:txBody>
                  <a:tcPr marL="73152" marR="73152" marT="36576" marB="36576">
                    <a:solidFill>
                      <a:srgbClr val="E8E4DC"/>
                    </a:solidFill>
                  </a:tcPr>
                </a:tc>
                <a:tc>
                  <a:txBody>
                    <a:bodyPr/>
                    <a:lstStyle/>
                    <a:p>
                      <a:r>
                        <a:rPr sz="1300" b="1">
                          <a:solidFill>
                            <a:srgbClr val="1A1A2E"/>
                          </a:solidFill>
                          <a:latin typeface="Calibri"/>
                          <a:ea typeface="Calibri"/>
                          <a:cs typeface="Calibri"/>
                        </a:rPr>
                        <a:t>Status</a:t>
                      </a:r>
                    </a:p>
                  </a:txBody>
                  <a:tcPr marL="73152" marR="73152" marT="36576" marB="36576">
                    <a:solidFill>
                      <a:srgbClr val="E8E4DC"/>
                    </a:solidFill>
                  </a:tcPr>
                </a:tc>
              </a:tr>
              <a:tr h="411480">
                <a:tc>
                  <a:txBody>
                    <a:bodyPr/>
                    <a:lstStyle/>
                    <a:p>
                      <a:r>
                        <a:rPr sz="1300" b="0">
                          <a:solidFill>
                            <a:srgbClr val="1A1A2E"/>
                          </a:solidFill>
                          <a:latin typeface="Calibri"/>
                          <a:ea typeface="Calibri"/>
                          <a:cs typeface="Calibri"/>
                        </a:rPr>
                        <a:t>ORD-00016</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web</a:t>
                      </a:r>
                    </a:p>
                  </a:txBody>
                  <a:tcPr marL="73152" marR="73152" marT="36576" marB="36576">
                    <a:solidFill>
                      <a:srgbClr val="FFFDF8"/>
                    </a:solidFill>
                  </a:tcPr>
                </a:tc>
                <a:tc>
                  <a:txBody>
                    <a:bodyPr/>
                    <a:lstStyle/>
                    <a:p>
                      <a:r>
                        <a:rPr sz="1300" b="0">
                          <a:solidFill>
                            <a:srgbClr val="1A1A2E"/>
                          </a:solidFill>
                          <a:latin typeface="Calibri"/>
                          <a:ea typeface="Calibri"/>
                          <a:cs typeface="Calibri"/>
                        </a:rPr>
                        <a:t>Cancelled</a:t>
                      </a:r>
                    </a:p>
                  </a:txBody>
                  <a:tcPr marL="73152" marR="73152" marT="36576" marB="36576">
                    <a:solidFill>
                      <a:srgbClr val="FFFDF8"/>
                    </a:solidFill>
                  </a:tcPr>
                </a:tc>
              </a:tr>
              <a:tr h="411480">
                <a:tc>
                  <a:txBody>
                    <a:bodyPr/>
                    <a:lstStyle/>
                    <a:p>
                      <a:r>
                        <a:rPr sz="1300" b="0">
                          <a:solidFill>
                            <a:srgbClr val="1A1A2E"/>
                          </a:solidFill>
                          <a:latin typeface="Calibri"/>
                          <a:ea typeface="Calibri"/>
                          <a:cs typeface="Calibri"/>
                        </a:rPr>
                        <a:t>ORD-00015</a:t>
                      </a:r>
                    </a:p>
                  </a:txBody>
                  <a:tcPr marL="73152" marR="73152" marT="36576" marB="36576">
                    <a:solidFill>
                      <a:srgbClr val="F7F4EE"/>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7F4EE"/>
                    </a:solidFill>
                  </a:tcPr>
                </a:tc>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7F4EE"/>
                    </a:solidFill>
                  </a:tcPr>
                </a:tc>
              </a:tr>
              <a:tr h="411480">
                <a:tc>
                  <a:txBody>
                    <a:bodyPr/>
                    <a:lstStyle/>
                    <a:p>
                      <a:r>
                        <a:rPr sz="1300" b="0">
                          <a:solidFill>
                            <a:srgbClr val="1A1A2E"/>
                          </a:solidFill>
                          <a:latin typeface="Calibri"/>
                          <a:ea typeface="Calibri"/>
                          <a:cs typeface="Calibri"/>
                        </a:rPr>
                        <a:t>ORD-00014</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claude</a:t>
                      </a:r>
                    </a:p>
                  </a:txBody>
                  <a:tcPr marL="73152" marR="73152" marT="36576" marB="36576">
                    <a:solidFill>
                      <a:srgbClr val="FFFDF8"/>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FFDF8"/>
                    </a:solidFill>
                  </a:tcPr>
                </a:tc>
              </a:tr>
              <a:tr h="411480">
                <a:tc>
                  <a:txBody>
                    <a:bodyPr/>
                    <a:lstStyle/>
                    <a:p>
                      <a:r>
                        <a:rPr sz="1300" b="0">
                          <a:solidFill>
                            <a:srgbClr val="1A1A2E"/>
                          </a:solidFill>
                          <a:latin typeface="Calibri"/>
                          <a:ea typeface="Calibri"/>
                          <a:cs typeface="Calibri"/>
                        </a:rPr>
                        <a:t>ORD-00013</a:t>
                      </a:r>
                    </a:p>
                  </a:txBody>
                  <a:tcPr marL="73152" marR="73152" marT="36576" marB="36576">
                    <a:solidFill>
                      <a:srgbClr val="F7F4EE"/>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7F4EE"/>
                    </a:solidFill>
                  </a:tcPr>
                </a:tc>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7F4EE"/>
                    </a:solidFill>
                  </a:tcPr>
                </a:tc>
              </a:tr>
              <a:tr h="411480">
                <a:tc>
                  <a:txBody>
                    <a:bodyPr/>
                    <a:lstStyle/>
                    <a:p>
                      <a:r>
                        <a:rPr sz="1300" b="0">
                          <a:solidFill>
                            <a:srgbClr val="1A1A2E"/>
                          </a:solidFill>
                          <a:latin typeface="Calibri"/>
                          <a:ea typeface="Calibri"/>
                          <a:cs typeface="Calibri"/>
                        </a:rPr>
                        <a:t>ORD-00012</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slack</a:t>
                      </a:r>
                    </a:p>
                  </a:txBody>
                  <a:tcPr marL="73152" marR="73152" marT="36576" marB="36576">
                    <a:solidFill>
                      <a:srgbClr val="FFFDF8"/>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FFDF8"/>
                    </a:solidFill>
                  </a:tcPr>
                </a:tc>
              </a:tr>
            </a:tbl>
          </a:graphicData>
        </a:graphic>
      </p:graphicFrame>
      <p:sp>
        <p:nvSpPr>
          <p:cNvPr id="8" name="TextBox 7">
            <a:extLst xmlns:a="http://schemas.openxmlformats.org/drawingml/2006/main">
              <a:ext uri="{FF2B5EF4-FFF2-40B4-BE49-F238E27FC236}">
                <a16:creationId xmlns:a16="http://schemas.microsoft.com/office/drawing/2014/main" id="{F672C30E-C1B0-4694-9F77-C537E0BCD9FA}"/>
              </a:ext>
            </a:extLst>
          </p:cNvPr>
          <p:cNvSpPr>
            <a:spLocks xmlns:a="http://schemas.openxmlformats.org/drawingml/2006/main" noGrp="1"/>
          </p:cNvSpPr>
          <p:nvPr/>
        </p:nvSpPr>
        <p:spPr>
          <a:xfrm xmlns:a="http://schemas.openxmlformats.org/drawingml/2006/main">
            <a:off x="640080" y="4663440"/>
            <a:ext cx="6583680" cy="396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Live rows from the org, </a:t>
            </a:r>
            <a:r>
              <a:rPr sz="1000" b="0">
                <a:solidFill>
                  <a:srgbClr val="78716C"/>
                </a:solidFill>
                <a:latin typeface="Calibri"/>
                <a:ea typeface="Calibri"/>
                <a:cs typeface="Calibri"/>
              </a:rPr>
              <a:t>14 Sep 2026</a:t>
            </a:r>
            <a:r>
              <a:rPr sz="1000" b="0">
                <a:solidFill>
                  <a:srgbClr val="78716C"/>
                </a:solidFill>
                <a:latin typeface="Calibri"/>
                <a:ea typeface="Calibri"/>
                <a:cs typeface="Calibri"/>
              </a:rPr>
              <a:t> — </a:t>
            </a:r>
            <a:r>
              <a:rPr sz="1000">
                <a:solidFill>
                  <a:srgbClr val="78716C"/>
                </a:solidFill>
                <a:latin typeface="Consolas"/>
                <a:ea typeface="Consolas"/>
                <a:cs typeface="Consolas"/>
              </a:rPr>
              <a:t>SELECT Name, Owner_Contact__r.Name, Channel__c, Status__c FROM HXL_Order__c</a:t>
            </a:r>
          </a:p>
        </p:txBody>
      </p:sp>
      <p:sp>
        <p:nvSpPr>
          <p:cNvPr id="9" name="TextBox 8">
            <a:extLst xmlns:a="http://schemas.openxmlformats.org/drawingml/2006/main">
              <a:ext uri="{FF2B5EF4-FFF2-40B4-BE49-F238E27FC236}">
                <a16:creationId xmlns:a16="http://schemas.microsoft.com/office/drawing/2014/main" id="{580F18FE-B6FD-46CF-876B-9325C436C704}"/>
              </a:ext>
            </a:extLst>
          </p:cNvPr>
          <p:cNvSpPr>
            <a:spLocks xmlns:a="http://schemas.openxmlformats.org/drawingml/2006/main" noGrp="1"/>
          </p:cNvSpPr>
          <p:nvPr/>
        </p:nvSpPr>
        <p:spPr>
          <a:xfrm xmlns:a="http://schemas.openxmlformats.org/drawingml/2006/main">
            <a:off x="7589520" y="2011680"/>
            <a:ext cx="4114800" cy="3657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400" b="0">
                <a:solidFill>
                  <a:srgbClr val="1A1A2E"/>
                </a:solidFill>
                <a:latin typeface="Calibri"/>
                <a:ea typeface="Calibri"/>
                <a:cs typeface="Calibri"/>
              </a:rPr>
              <a:t>•  Every write runs </a:t>
            </a:r>
            <a:r>
              <a:rPr sz="1200">
                <a:solidFill>
                  <a:srgbClr val="1A1A2E"/>
                </a:solidFill>
                <a:latin typeface="Consolas"/>
                <a:ea typeface="Consolas"/>
                <a:cs typeface="Consolas"/>
              </a:rPr>
              <a:t>insert as user</a:t>
            </a:r>
            <a:r>
              <a:rPr sz="1400" b="0">
                <a:solidFill>
                  <a:srgbClr val="1A1A2E"/>
                </a:solidFill>
                <a:latin typeface="Calibri"/>
                <a:ea typeface="Calibri"/>
                <a:cs typeface="Calibri"/>
              </a:rPr>
              <a:t> / </a:t>
            </a:r>
            <a:r>
              <a:rPr sz="1200">
                <a:solidFill>
                  <a:srgbClr val="1A1A2E"/>
                </a:solidFill>
                <a:latin typeface="Consolas"/>
                <a:ea typeface="Consolas"/>
                <a:cs typeface="Consolas"/>
              </a:rPr>
              <a:t>update as user</a:t>
            </a:r>
          </a:p>
          <a:p xmlns:a="http://schemas.openxmlformats.org/drawingml/2006/main">
            <a:pPr>
              <a:spcAft>
                <a:spcPts val="1000"/>
              </a:spcAft>
              <a:buNone/>
            </a:pPr>
            <a:r>
              <a:rPr sz="1400" b="0">
                <a:solidFill>
                  <a:srgbClr val="1A1A2E"/>
                </a:solidFill>
                <a:latin typeface="Calibri"/>
                <a:ea typeface="Calibri"/>
                <a:cs typeface="Calibri"/>
              </a:rPr>
              <a:t>•  Channel comes from the transport (stdio → claude; path → chatgpt / slack)</a:t>
            </a:r>
          </a:p>
          <a:p xmlns:a="http://schemas.openxmlformats.org/drawingml/2006/main">
            <a:pPr>
              <a:spcAft>
                <a:spcPts val="1000"/>
              </a:spcAft>
              <a:buNone/>
            </a:pPr>
            <a:r>
              <a:rPr sz="1400" b="0">
                <a:solidFill>
                  <a:srgbClr val="1A1A2E"/>
                </a:solidFill>
                <a:latin typeface="Calibri"/>
                <a:ea typeface="Calibri"/>
                <a:cs typeface="Calibri"/>
              </a:rPr>
              <a:t>•  Unknown channel → </a:t>
            </a:r>
            <a:r>
              <a:rPr sz="1200">
                <a:solidFill>
                  <a:srgbClr val="1A1A2E"/>
                </a:solidFill>
                <a:latin typeface="Consolas"/>
                <a:ea typeface="Consolas"/>
                <a:cs typeface="Consolas"/>
              </a:rPr>
              <a:t>other</a:t>
            </a:r>
            <a:r>
              <a:rPr sz="1400" b="0">
                <a:solidFill>
                  <a:srgbClr val="1A1A2E"/>
                </a:solidFill>
                <a:latin typeface="Calibri"/>
                <a:ea typeface="Calibri"/>
                <a:cs typeface="Calibri"/>
              </a:rPr>
              <a:t>, never rejected</a:t>
            </a:r>
          </a:p>
          <a:p xmlns:a="http://schemas.openxmlformats.org/drawingml/2006/main">
            <a:pPr>
              <a:spcAft>
                <a:spcPts val="1000"/>
              </a:spcAft>
              <a:buNone/>
            </a:pPr>
            <a:r>
              <a:rPr sz="1400" b="0">
                <a:solidFill>
                  <a:srgbClr val="1A1A2E"/>
                </a:solidFill>
                <a:latin typeface="Calibri"/>
                <a:ea typeface="Calibri"/>
                <a:cs typeface="Calibri"/>
              </a:rPr>
              <a:t>•  Cancel: Draft/Submitted only; Shipped → refused; someone else’s → invisible before any rule runs</a:t>
            </a:r>
          </a:p>
        </p:txBody>
      </p:sp>
    </p:spTree>
    <p:extLst>
      <p:ext uri="{BB962C8B-B14F-4D97-AF65-F5344CB8AC3E}">
        <p14:creationId xmlns:p14="http://schemas.microsoft.com/office/powerpoint/2010/main" val="716486826"/>
      </p:ext>
    </p:extLst>
  </p:cSld>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1A83711-065A-4746-8E7F-0AC440EEFA53}"/>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883F3F8D-A127-4F04-A165-2D4E7374A670}"/>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10</a:t>
            </a:r>
          </a:p>
        </p:txBody>
      </p:sp>
      <p:sp>
        <p:nvSpPr>
          <p:cNvPr id="4" name="TextBox 3">
            <a:extLst xmlns:a="http://schemas.openxmlformats.org/drawingml/2006/main">
              <a:ext uri="{FF2B5EF4-FFF2-40B4-BE49-F238E27FC236}">
                <a16:creationId xmlns:a16="http://schemas.microsoft.com/office/drawing/2014/main" id="{E447B500-FFC5-4468-B2E4-749305FE4A3C}"/>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Where the docs and the org disagree</a:t>
            </a:r>
          </a:p>
        </p:txBody>
      </p:sp>
      <p:sp>
        <p:nvSpPr>
          <p:cNvPr id="5" name="TextBox 4">
            <a:extLst xmlns:a="http://schemas.openxmlformats.org/drawingml/2006/main">
              <a:ext uri="{FF2B5EF4-FFF2-40B4-BE49-F238E27FC236}">
                <a16:creationId xmlns:a16="http://schemas.microsoft.com/office/drawing/2014/main" id="{135D25DC-62DA-4882-99E1-9AA0CD90B54A}"/>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Top 8 of 17 reproduced divergences</a:t>
            </a:r>
          </a:p>
        </p:txBody>
      </p:sp>
      <p:sp>
        <p:nvSpPr>
          <p:cNvPr id="6" name="Rectangle 5">
            <a:extLst xmlns:a="http://schemas.openxmlformats.org/drawingml/2006/main">
              <a:ext uri="{FF2B5EF4-FFF2-40B4-BE49-F238E27FC236}">
                <a16:creationId xmlns:a16="http://schemas.microsoft.com/office/drawing/2014/main" id="{AEA0CC0F-BC3A-43FC-A70E-20E4EB00961C}"/>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3ED5E5FD-F268-4E3B-AEC3-52548D4A4B80}"/>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700"/>
              </a:spcAft>
              <a:buNone/>
            </a:pPr>
            <a:r>
              <a:rPr sz="1600" b="0">
                <a:solidFill>
                  <a:srgbClr val="1A1A2E"/>
                </a:solidFill>
                <a:latin typeface="Calibri"/>
                <a:ea typeface="Calibri"/>
                <a:cs typeface="Calibri"/>
              </a:rPr>
              <a:t>•  The Setup UI silently fails to save (a role, a self-registration flag, an auth setting)</a:t>
            </a:r>
          </a:p>
          <a:p xmlns:a="http://schemas.openxmlformats.org/drawingml/2006/main">
            <a:pPr>
              <a:spcAft>
                <a:spcPts val="700"/>
              </a:spcAft>
              <a:buNone/>
            </a:pPr>
            <a:r>
              <a:rPr sz="1600" b="0">
                <a:solidFill>
                  <a:srgbClr val="1A1A2E"/>
                </a:solidFill>
                <a:latin typeface="Calibri"/>
                <a:ea typeface="Calibri"/>
                <a:cs typeface="Calibri"/>
              </a:rPr>
              <a:t>•  A successful headless authorize is HTTP </a:t>
            </a:r>
            <a:r>
              <a:rPr sz="1600" b="1">
                <a:solidFill>
                  <a:srgbClr val="1A1A2E"/>
                </a:solidFill>
                <a:latin typeface="Calibri"/>
                <a:ea typeface="Calibri"/>
                <a:cs typeface="Calibri"/>
              </a:rPr>
              <a:t>302</a:t>
            </a:r>
            <a:r>
              <a:rPr sz="1600" b="0">
                <a:solidFill>
                  <a:srgbClr val="1A1A2E"/>
                </a:solidFill>
                <a:latin typeface="Calibri"/>
                <a:ea typeface="Calibri"/>
                <a:cs typeface="Calibri"/>
              </a:rPr>
              <a:t> with the code in a header — not JSON</a:t>
            </a:r>
          </a:p>
          <a:p xmlns:a="http://schemas.openxmlformats.org/drawingml/2006/main">
            <a:pPr>
              <a:spcAft>
                <a:spcPts val="700"/>
              </a:spcAft>
              <a:buNone/>
            </a:pPr>
            <a:r>
              <a:rPr sz="1600" b="0">
                <a:solidFill>
                  <a:srgbClr val="1A1A2E"/>
                </a:solidFill>
                <a:latin typeface="Calibri"/>
                <a:ea typeface="Calibri"/>
                <a:cs typeface="Calibri"/>
              </a:rPr>
              <a:t>•  Identity calls and data calls must go to </a:t>
            </a:r>
            <a:r>
              <a:rPr sz="1600" b="1">
                <a:solidFill>
                  <a:srgbClr val="1A1A2E"/>
                </a:solidFill>
                <a:latin typeface="Calibri"/>
                <a:ea typeface="Calibri"/>
                <a:cs typeface="Calibri"/>
              </a:rPr>
              <a:t>different hosts</a:t>
            </a:r>
          </a:p>
          <a:p xmlns:a="http://schemas.openxmlformats.org/drawingml/2006/main">
            <a:pPr>
              <a:spcAft>
                <a:spcPts val="700"/>
              </a:spcAft>
              <a:buNone/>
            </a:pPr>
            <a:r>
              <a:rPr sz="1600" b="0">
                <a:solidFill>
                  <a:srgbClr val="1A1A2E"/>
                </a:solidFill>
                <a:latin typeface="Calibri"/>
                <a:ea typeface="Calibri"/>
                <a:cs typeface="Calibri"/>
              </a:rPr>
              <a:t>•  A card accepts at most </a:t>
            </a:r>
            <a:r>
              <a:rPr sz="1600" b="1">
                <a:solidFill>
                  <a:srgbClr val="1A1A2E"/>
                </a:solidFill>
                <a:latin typeface="Calibri"/>
                <a:ea typeface="Calibri"/>
                <a:cs typeface="Calibri"/>
              </a:rPr>
              <a:t>10 children</a:t>
            </a:r>
            <a:r>
              <a:rPr sz="1600" b="0">
                <a:solidFill>
                  <a:srgbClr val="1A1A2E"/>
                </a:solidFill>
                <a:latin typeface="Calibri"/>
                <a:ea typeface="Calibri"/>
                <a:cs typeface="Calibri"/>
              </a:rPr>
              <a:t>; a column rejects </a:t>
            </a:r>
            <a:r>
              <a:rPr sz="1400">
                <a:solidFill>
                  <a:srgbClr val="1A1A2E"/>
                </a:solidFill>
                <a:latin typeface="Consolas"/>
                <a:ea typeface="Consolas"/>
                <a:cs typeface="Consolas"/>
              </a:rPr>
              <a:t>padding</a:t>
            </a:r>
            <a:r>
              <a:rPr sz="1600" b="0">
                <a:solidFill>
                  <a:srgbClr val="1A1A2E"/>
                </a:solidFill>
                <a:latin typeface="Calibri"/>
                <a:ea typeface="Calibri"/>
                <a:cs typeface="Calibri"/>
              </a:rPr>
              <a:t> — the public example won’t deploy</a:t>
            </a:r>
          </a:p>
          <a:p xmlns:a="http://schemas.openxmlformats.org/drawingml/2006/main">
            <a:pPr>
              <a:spcAft>
                <a:spcPts val="700"/>
              </a:spcAft>
              <a:buNone/>
            </a:pPr>
            <a:r>
              <a:rPr sz="1600" b="0">
                <a:solidFill>
                  <a:srgbClr val="1A1A2E"/>
                </a:solidFill>
                <a:latin typeface="Calibri"/>
                <a:ea typeface="Calibri"/>
                <a:cs typeface="Calibri"/>
              </a:rPr>
              <a:t>•  A deployed widget is </a:t>
            </a:r>
            <a:r>
              <a:rPr sz="1600" b="1">
                <a:solidFill>
                  <a:srgbClr val="1A1A2E"/>
                </a:solidFill>
                <a:latin typeface="Calibri"/>
                <a:ea typeface="Calibri"/>
                <a:cs typeface="Calibri"/>
              </a:rPr>
              <a:t>invisible in Setup</a:t>
            </a:r>
            <a:r>
              <a:rPr sz="1600" b="0">
                <a:solidFill>
                  <a:srgbClr val="1A1A2E"/>
                </a:solidFill>
                <a:latin typeface="Calibri"/>
                <a:ea typeface="Calibri"/>
                <a:cs typeface="Calibri"/>
              </a:rPr>
              <a:t>; verify by retrieve</a:t>
            </a:r>
          </a:p>
          <a:p xmlns:a="http://schemas.openxmlformats.org/drawingml/2006/main">
            <a:pPr>
              <a:spcAft>
                <a:spcPts val="700"/>
              </a:spcAft>
              <a:buNone/>
            </a:pPr>
            <a:r>
              <a:rPr sz="1600" b="0">
                <a:solidFill>
                  <a:srgbClr val="1A1A2E"/>
                </a:solidFill>
                <a:latin typeface="Calibri"/>
                <a:ea typeface="Calibri"/>
                <a:cs typeface="Calibri"/>
              </a:rPr>
              <a:t>•  The platform </a:t>
            </a:r>
            <a:r>
              <a:rPr sz="1600" b="1">
                <a:solidFill>
                  <a:srgbClr val="1A1A2E"/>
                </a:solidFill>
                <a:latin typeface="Calibri"/>
                <a:ea typeface="Calibri"/>
                <a:cs typeface="Calibri"/>
              </a:rPr>
              <a:t>rewrites widget JSON on save</a:t>
            </a:r>
            <a:r>
              <a:rPr sz="1600" b="0">
                <a:solidFill>
                  <a:srgbClr val="1A1A2E"/>
                </a:solidFill>
                <a:latin typeface="Calibri"/>
                <a:ea typeface="Calibri"/>
                <a:cs typeface="Calibri"/>
              </a:rPr>
              <a:t> (ids, defaults) — retrieve ≠ source</a:t>
            </a:r>
          </a:p>
          <a:p xmlns:a="http://schemas.openxmlformats.org/drawingml/2006/main">
            <a:pPr>
              <a:spcAft>
                <a:spcPts val="700"/>
              </a:spcAft>
              <a:buNone/>
            </a:pPr>
            <a:r>
              <a:rPr sz="1600" b="0">
                <a:solidFill>
                  <a:srgbClr val="1A1A2E"/>
                </a:solidFill>
                <a:latin typeface="Calibri"/>
                <a:ea typeface="Calibri"/>
                <a:cs typeface="Calibri"/>
              </a:rPr>
              <a:t>•  </a:t>
            </a:r>
            <a:r>
              <a:rPr sz="1400">
                <a:solidFill>
                  <a:srgbClr val="1A1A2E"/>
                </a:solidFill>
                <a:latin typeface="Consolas"/>
                <a:ea typeface="Consolas"/>
                <a:cs typeface="Consolas"/>
              </a:rPr>
              <a:t>WITH USER_MODE</a:t>
            </a:r>
            <a:r>
              <a:rPr sz="1600" b="0">
                <a:solidFill>
                  <a:srgbClr val="1A1A2E"/>
                </a:solidFill>
                <a:latin typeface="Calibri"/>
                <a:ea typeface="Calibri"/>
                <a:cs typeface="Calibri"/>
              </a:rPr>
              <a:t> + missing FLS fails as "Variable does not exist: </a:t>
            </a:r>
            <a:r>
              <a:rPr sz="1600" b="1">
                <a:solidFill>
                  <a:srgbClr val="1A1A2E"/>
                </a:solidFill>
                <a:latin typeface="Calibri"/>
                <a:ea typeface="Calibri"/>
                <a:cs typeface="Calibri"/>
              </a:rPr>
              <a:t>tmpVar1</a:t>
            </a:r>
            <a:r>
              <a:rPr sz="1600" b="0">
                <a:solidFill>
                  <a:srgbClr val="1A1A2E"/>
                </a:solidFill>
                <a:latin typeface="Calibri"/>
                <a:ea typeface="Calibri"/>
                <a:cs typeface="Calibri"/>
              </a:rPr>
              <a:t>"</a:t>
            </a:r>
          </a:p>
          <a:p xmlns:a="http://schemas.openxmlformats.org/drawingml/2006/main">
            <a:pPr>
              <a:spcAft>
                <a:spcPts val="700"/>
              </a:spcAft>
              <a:buNone/>
            </a:pPr>
            <a:r>
              <a:rPr sz="1600" b="0">
                <a:solidFill>
                  <a:srgbClr val="1A1A2E"/>
                </a:solidFill>
                <a:latin typeface="Calibri"/>
                <a:ea typeface="Calibri"/>
                <a:cs typeface="Calibri"/>
              </a:rPr>
              <a:t>•  developer.salesforce.com returns </a:t>
            </a:r>
            <a:r>
              <a:rPr sz="1600" b="1">
                <a:solidFill>
                  <a:srgbClr val="1A1A2E"/>
                </a:solidFill>
                <a:latin typeface="Calibri"/>
                <a:ea typeface="Calibri"/>
                <a:cs typeface="Calibri"/>
              </a:rPr>
              <a:t>403</a:t>
            </a:r>
            <a:r>
              <a:rPr sz="1600" b="0">
                <a:solidFill>
                  <a:srgbClr val="1A1A2E"/>
                </a:solidFill>
                <a:latin typeface="Calibri"/>
                <a:ea typeface="Calibri"/>
                <a:cs typeface="Calibri"/>
              </a:rPr>
              <a:t> to every automated client — read the docs by hand</a:t>
            </a:r>
          </a:p>
        </p:txBody>
      </p:sp>
    </p:spTree>
    <p:extLst>
      <p:ext uri="{BB962C8B-B14F-4D97-AF65-F5344CB8AC3E}">
        <p14:creationId xmlns:p14="http://schemas.microsoft.com/office/powerpoint/2010/main" val="2007586483"/>
      </p:ext>
    </p:extLst>
  </p:cSld>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BEEFD96-74FE-4462-BD0C-4C04631889D7}"/>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16D08E79-91DF-4F27-A540-5CA118815F3D}"/>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11</a:t>
            </a:r>
          </a:p>
        </p:txBody>
      </p:sp>
      <p:sp>
        <p:nvSpPr>
          <p:cNvPr id="4" name="TextBox 3">
            <a:extLst xmlns:a="http://schemas.openxmlformats.org/drawingml/2006/main">
              <a:ext uri="{FF2B5EF4-FFF2-40B4-BE49-F238E27FC236}">
                <a16:creationId xmlns:a16="http://schemas.microsoft.com/office/drawing/2014/main" id="{04CE88DA-B99B-4D7D-A548-D0A59CB8CABB}"/>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What does not work, and why</a:t>
            </a:r>
          </a:p>
        </p:txBody>
      </p:sp>
      <p:sp>
        <p:nvSpPr>
          <p:cNvPr id="5" name="Rectangle 4">
            <a:extLst xmlns:a="http://schemas.openxmlformats.org/drawingml/2006/main">
              <a:ext uri="{FF2B5EF4-FFF2-40B4-BE49-F238E27FC236}">
                <a16:creationId xmlns:a16="http://schemas.microsoft.com/office/drawing/2014/main" id="{F5B350E4-96A0-4510-A8FF-743248157E9B}"/>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6AE528D-0199-493A-9D1A-4C8461C5834A}"/>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pPr>
            <a:r>
              <a:rPr sz="1600" b="0">
                <a:solidFill>
                  <a:srgbClr val="1A1A2E"/>
                </a:solidFill>
                <a:latin typeface="Calibri"/>
                <a:ea typeface="Calibri"/>
                <a:cs typeface="Calibri"/>
              </a:rPr>
              <a:t>•  </a:t>
            </a:r>
            <a:r>
              <a:rPr sz="1600" b="1">
                <a:solidFill>
                  <a:srgbClr val="1A1A2E"/>
                </a:solidFill>
                <a:latin typeface="Calibri"/>
                <a:ea typeface="Calibri"/>
                <a:cs typeface="Calibri"/>
              </a:rPr>
              <a:t>3 of 4 identity flows</a:t>
            </a:r>
            <a:r>
              <a:rPr sz="1600" b="0">
                <a:solidFill>
                  <a:srgbClr val="1A1A2E"/>
                </a:solidFill>
                <a:latin typeface="Calibri"/>
                <a:ea typeface="Calibri"/>
                <a:cs typeface="Calibri"/>
              </a:rPr>
              <a:t> (Registration, Passwordless, Forgot Password) are built in code but blocked at the org’s init-endpoint wall — every mintable credential rejected differently, one root cause. Recommended route: first-party client attestation (certificate + ~40 lines of JWT). Characterised, not mysterious.</a:t>
            </a:r>
          </a:p>
          <a:p xmlns:a="http://schemas.openxmlformats.org/drawingml/2006/main">
            <a:pPr>
              <a:spcAft>
                <a:spcPts val="1400"/>
              </a:spcAft>
              <a:buNone/>
            </a:pPr>
            <a:r>
              <a:rPr sz="1600" b="0">
                <a:solidFill>
                  <a:srgbClr val="1A1A2E"/>
                </a:solidFill>
                <a:latin typeface="Calibri"/>
                <a:ea typeface="Calibri"/>
                <a:cs typeface="Calibri"/>
              </a:rPr>
              <a:t>•  </a:t>
            </a:r>
            <a:r>
              <a:rPr sz="1600" b="1">
                <a:solidFill>
                  <a:srgbClr val="1A1A2E"/>
                </a:solidFill>
                <a:latin typeface="Calibri"/>
                <a:ea typeface="Calibri"/>
                <a:cs typeface="Calibri"/>
              </a:rPr>
              <a:t>The password transits the chat</a:t>
            </a:r>
            <a:r>
              <a:rPr sz="1600" b="0">
                <a:solidFill>
                  <a:srgbClr val="1A1A2E"/>
                </a:solidFill>
                <a:latin typeface="Calibri"/>
                <a:ea typeface="Calibri"/>
                <a:cs typeface="Calibri"/>
              </a:rPr>
              <a:t> for </a:t>
            </a:r>
            <a:r>
              <a:rPr sz="1400">
                <a:solidFill>
                  <a:srgbClr val="1A1A2E"/>
                </a:solidFill>
                <a:latin typeface="Consolas"/>
                <a:ea typeface="Consolas"/>
                <a:cs typeface="Consolas"/>
              </a:rPr>
              <a:t>sign_in</a:t>
            </a:r>
            <a:r>
              <a:rPr sz="1600" b="0">
                <a:solidFill>
                  <a:srgbClr val="1A1A2E"/>
                </a:solidFill>
                <a:latin typeface="Calibri"/>
                <a:ea typeface="Calibri"/>
                <a:cs typeface="Calibri"/>
              </a:rPr>
              <a:t>. POC-grade. The real design is MCP OAuth with the identity layer as the authorization server — the host opens a login page and no credential ever passes through the model.</a:t>
            </a:r>
          </a:p>
          <a:p xmlns:a="http://schemas.openxmlformats.org/drawingml/2006/main">
            <a:pPr>
              <a:spcAft>
                <a:spcPts val="1400"/>
              </a:spcAft>
              <a:buNone/>
            </a:pPr>
            <a:r>
              <a:rPr sz="1600" b="0">
                <a:solidFill>
                  <a:srgbClr val="1A1A2E"/>
                </a:solidFill>
                <a:latin typeface="Calibri"/>
                <a:ea typeface="Calibri"/>
                <a:cs typeface="Calibri"/>
              </a:rPr>
              <a:t>•  </a:t>
            </a:r>
            <a:r>
              <a:rPr sz="1600" b="1">
                <a:solidFill>
                  <a:srgbClr val="1A1A2E"/>
                </a:solidFill>
                <a:latin typeface="Calibri"/>
                <a:ea typeface="Calibri"/>
                <a:cs typeface="Calibri"/>
              </a:rPr>
              <a:t>Demo-grade infrastructure</a:t>
            </a:r>
            <a:r>
              <a:rPr sz="1600" b="0">
                <a:solidFill>
                  <a:srgbClr val="1A1A2E"/>
                </a:solidFill>
                <a:latin typeface="Calibri"/>
                <a:ea typeface="Calibri"/>
                <a:cs typeface="Calibri"/>
              </a:rPr>
              <a:t>: in-memory sessions, plain HTTP on localhost, a free tunnel whose URL rotates on restart.</a:t>
            </a:r>
          </a:p>
        </p:txBody>
      </p:sp>
    </p:spTree>
    <p:extLst>
      <p:ext uri="{BB962C8B-B14F-4D97-AF65-F5344CB8AC3E}">
        <p14:creationId xmlns:p14="http://schemas.microsoft.com/office/powerpoint/2010/main" val="646529782"/>
      </p:ext>
    </p:extLst>
  </p:cSld>
</p:sld>
</file>

<file path=ppt/slides/slide1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6FF4A2B-CACF-480A-9909-26295341DECB}"/>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7BD9957B-AC6B-47BC-A330-A3E4884BF007}"/>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12</a:t>
            </a:r>
          </a:p>
        </p:txBody>
      </p:sp>
      <p:sp>
        <p:nvSpPr>
          <p:cNvPr id="4" name="TextBox 3">
            <a:extLst xmlns:a="http://schemas.openxmlformats.org/drawingml/2006/main">
              <a:ext uri="{FF2B5EF4-FFF2-40B4-BE49-F238E27FC236}">
                <a16:creationId xmlns:a16="http://schemas.microsoft.com/office/drawing/2014/main" id="{43A5B7E3-4063-413C-BA1C-2CE9481E3372}"/>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Licensing and the open question</a:t>
            </a:r>
          </a:p>
        </p:txBody>
      </p:sp>
      <p:sp>
        <p:nvSpPr>
          <p:cNvPr id="5" name="Rectangle 4">
            <a:extLst xmlns:a="http://schemas.openxmlformats.org/drawingml/2006/main">
              <a:ext uri="{FF2B5EF4-FFF2-40B4-BE49-F238E27FC236}">
                <a16:creationId xmlns:a16="http://schemas.microsoft.com/office/drawing/2014/main" id="{A00838A1-5447-4E94-B11C-958CDCDA62B6}"/>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55BD794-34B9-4E1E-84B4-1D975F3FD532}"/>
              </a:ext>
            </a:extLst>
          </p:cNvPr>
          <p:cNvSpPr>
            <a:spLocks xmlns:a="http://schemas.openxmlformats.org/drawingml/2006/main" noGrp="1"/>
          </p:cNvSpPr>
          <p:nvPr/>
        </p:nvSpPr>
        <p:spPr>
          <a:xfrm xmlns:a="http://schemas.openxmlformats.org/drawingml/2006/main">
            <a:off x="640080" y="2103120"/>
            <a:ext cx="10972800" cy="2743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buNone/>
            </a:pPr>
            <a:r>
              <a:rPr sz="1800" b="0">
                <a:solidFill>
                  <a:srgbClr val="1A1A2E"/>
                </a:solidFill>
                <a:latin typeface="Calibri"/>
                <a:ea typeface="Calibri"/>
                <a:cs typeface="Calibri"/>
              </a:rPr>
              <a:t>•  This runs on </a:t>
            </a:r>
            <a:r>
              <a:rPr sz="1800" b="1">
                <a:solidFill>
                  <a:srgbClr val="1A1A2E"/>
                </a:solidFill>
                <a:latin typeface="Calibri"/>
                <a:ea typeface="Calibri"/>
                <a:cs typeface="Calibri"/>
              </a:rPr>
              <a:t>Experience Cloud</a:t>
            </a:r>
            <a:r>
              <a:rPr sz="1800" b="0">
                <a:solidFill>
                  <a:srgbClr val="1A1A2E"/>
                </a:solidFill>
                <a:latin typeface="Calibri"/>
                <a:ea typeface="Calibri"/>
                <a:cs typeface="Calibri"/>
              </a:rPr>
              <a:t> licensing — Customer Community users. An invisible site is not a free site.</a:t>
            </a:r>
          </a:p>
          <a:p xmlns:a="http://schemas.openxmlformats.org/drawingml/2006/main">
            <a:pPr>
              <a:spcAft>
                <a:spcPts val="1200"/>
              </a:spcAft>
              <a:buNone/>
            </a:pPr>
            <a:r>
              <a:rPr sz="1800" b="0">
                <a:solidFill>
                  <a:srgbClr val="1A1A2E"/>
                </a:solidFill>
                <a:latin typeface="Calibri"/>
                <a:ea typeface="Calibri"/>
                <a:cs typeface="Calibri"/>
              </a:rPr>
              <a:t>•  API access was granted at a tier that does not normally include it, and it works.</a:t>
            </a:r>
          </a:p>
        </p:txBody>
      </p:sp>
      <p:sp>
        <p:nvSpPr>
          <p:cNvPr id="7" name="Rounded Rectangle 6">
            <a:extLst xmlns:a="http://schemas.openxmlformats.org/drawingml/2006/main">
              <a:ext uri="{FF2B5EF4-FFF2-40B4-BE49-F238E27FC236}">
                <a16:creationId xmlns:a16="http://schemas.microsoft.com/office/drawing/2014/main" id="{C3DD9950-08E1-457C-A767-E612972E855D}"/>
              </a:ext>
            </a:extLst>
          </p:cNvPr>
          <p:cNvSpPr>
            <a:spLocks xmlns:a="http://schemas.openxmlformats.org/drawingml/2006/main" noGrp="1"/>
          </p:cNvSpPr>
          <p:nvPr/>
        </p:nvSpPr>
        <p:spPr>
          <a:xfrm xmlns:a="http://schemas.openxmlformats.org/drawingml/2006/main">
            <a:off x="640080" y="4023360"/>
            <a:ext cx="10972800" cy="91440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800" b="1">
                <a:solidFill>
                  <a:srgbClr val="1A1A2E"/>
                </a:solidFill>
                <a:latin typeface="Calibri"/>
                <a:ea typeface="Calibri"/>
                <a:cs typeface="Calibri"/>
              </a:rPr>
              <a:t>Flagged, not assumed away. Confirm with Salesforce before any commercial reliance.</a:t>
            </a:r>
          </a:p>
        </p:txBody>
      </p:sp>
    </p:spTree>
    <p:extLst>
      <p:ext uri="{BB962C8B-B14F-4D97-AF65-F5344CB8AC3E}">
        <p14:creationId xmlns:p14="http://schemas.microsoft.com/office/powerpoint/2010/main" val="1661746531"/>
      </p:ext>
    </p:extLst>
  </p:cSld>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E7C294-E48B-4394-A806-D3995557B61D}"/>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E2CE1993-A6B7-4B42-BF60-50FE2249B8C6}"/>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13</a:t>
            </a:r>
          </a:p>
        </p:txBody>
      </p:sp>
      <p:sp>
        <p:nvSpPr>
          <p:cNvPr id="4" name="TextBox 3">
            <a:extLst xmlns:a="http://schemas.openxmlformats.org/drawingml/2006/main">
              <a:ext uri="{FF2B5EF4-FFF2-40B4-BE49-F238E27FC236}">
                <a16:creationId xmlns:a16="http://schemas.microsoft.com/office/drawing/2014/main" id="{88821DF4-381E-4A9F-9229-A2E67CBCC5AB}"/>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POC status</a:t>
            </a:r>
          </a:p>
        </p:txBody>
      </p:sp>
      <p:sp>
        <p:nvSpPr>
          <p:cNvPr id="5" name="TextBox 4">
            <a:extLst xmlns:a="http://schemas.openxmlformats.org/drawingml/2006/main">
              <a:ext uri="{FF2B5EF4-FFF2-40B4-BE49-F238E27FC236}">
                <a16:creationId xmlns:a16="http://schemas.microsoft.com/office/drawing/2014/main" id="{BE447265-1980-461C-9D9E-DF257344855D}"/>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Verified against the live org and Claude Desktop</a:t>
            </a:r>
          </a:p>
        </p:txBody>
      </p:sp>
      <p:sp>
        <p:nvSpPr>
          <p:cNvPr id="6" name="Rectangle 5">
            <a:extLst xmlns:a="http://schemas.openxmlformats.org/drawingml/2006/main">
              <a:ext uri="{FF2B5EF4-FFF2-40B4-BE49-F238E27FC236}">
                <a16:creationId xmlns:a16="http://schemas.microsoft.com/office/drawing/2014/main" id="{0B8AEA7A-F70D-4FAB-8DC6-FB9E8B60805F}"/>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2011680"/>
          <a:ext xmlns:a="http://schemas.openxmlformats.org/drawingml/2006/main" cx="10972800" cy="2560320"/>
        </p:xfrm>
        <a:graphic xmlns:a="http://schemas.openxmlformats.org/drawingml/2006/main">
          <a:graphicData uri="http://schemas.openxmlformats.org/drawingml/2006/table">
            <a:tbl>
              <a:tblPr firstRow="1" bandRow="1">
                <a:tableStyleId>{5C22544A-7EE6-4342-B048-85BDC9FD1C3A}</a:tableStyleId>
              </a:tblPr>
              <a:tblGrid>
                <a:gridCol w="548640"/>
                <a:gridCol w="4572000"/>
                <a:gridCol w="5852160"/>
              </a:tblGrid>
              <a:tr h="640080">
                <a:tc>
                  <a:txBody>
                    <a:bodyPr/>
                    <a:lstStyle/>
                    <a:p>
                      <a:r>
                        <a:rPr sz="1400" b="1">
                          <a:solidFill>
                            <a:srgbClr val="1A1A2E"/>
                          </a:solidFill>
                          <a:latin typeface="Calibri"/>
                          <a:ea typeface="Calibri"/>
                          <a:cs typeface="Calibri"/>
                        </a:rPr>
                        <a:t>#</a:t>
                      </a:r>
                    </a:p>
                  </a:txBody>
                  <a:tcPr marL="73152" marR="73152" marT="36576" marB="36576">
                    <a:solidFill>
                      <a:srgbClr val="E8E4DC"/>
                    </a:solidFill>
                  </a:tcPr>
                </a:tc>
                <a:tc>
                  <a:txBody>
                    <a:bodyPr/>
                    <a:lstStyle/>
                    <a:p>
                      <a:r>
                        <a:rPr sz="1400" b="1">
                          <a:solidFill>
                            <a:srgbClr val="1A1A2E"/>
                          </a:solidFill>
                          <a:latin typeface="Calibri"/>
                          <a:ea typeface="Calibri"/>
                          <a:cs typeface="Calibri"/>
                        </a:rPr>
                        <a:t>Success criterion</a:t>
                      </a:r>
                    </a:p>
                  </a:txBody>
                  <a:tcPr marL="73152" marR="73152" marT="36576" marB="36576">
                    <a:solidFill>
                      <a:srgbClr val="E8E4DC"/>
                    </a:solidFill>
                  </a:tcPr>
                </a:tc>
                <a:tc>
                  <a:txBody>
                    <a:bodyPr/>
                    <a:lstStyle/>
                    <a:p>
                      <a:r>
                        <a:rPr sz="1400" b="1">
                          <a:solidFill>
                            <a:srgbClr val="1A1A2E"/>
                          </a:solidFill>
                          <a:latin typeface="Calibri"/>
                          <a:ea typeface="Calibri"/>
                          <a:cs typeface="Calibri"/>
                        </a:rPr>
                        <a:t>Status 14 Sep</a:t>
                      </a:r>
                    </a:p>
                  </a:txBody>
                  <a:tcPr marL="73152" marR="73152" marT="36576" marB="36576">
                    <a:solidFill>
                      <a:srgbClr val="E8E4DC"/>
                    </a:solidFill>
                  </a:tcPr>
                </a:tc>
              </a:tr>
              <a:tr h="640080">
                <a:tc>
                  <a:txBody>
                    <a:bodyPr/>
                    <a:lstStyle/>
                    <a:p>
                      <a:r>
                        <a:rPr sz="1400" b="0">
                          <a:solidFill>
                            <a:srgbClr val="1A1A2E"/>
                          </a:solidFill>
                          <a:latin typeface="Calibri"/>
                          <a:ea typeface="Calibri"/>
                          <a:cs typeface="Calibri"/>
                        </a:rPr>
                        <a:t>1</a:t>
                      </a:r>
                    </a:p>
                  </a:txBody>
                  <a:tcPr marL="73152" marR="73152" marT="36576" marB="36576">
                    <a:solidFill>
                      <a:srgbClr val="FFFDF8"/>
                    </a:solidFill>
                  </a:tcPr>
                </a:tc>
                <a:tc>
                  <a:txBody>
                    <a:bodyPr/>
                    <a:lstStyle/>
                    <a:p>
                      <a:r>
                        <a:rPr sz="1400" b="0">
                          <a:solidFill>
                            <a:srgbClr val="1A1A2E"/>
                          </a:solidFill>
                          <a:latin typeface="Calibri"/>
                          <a:ea typeface="Calibri"/>
                          <a:cs typeface="Calibri"/>
                        </a:rPr>
                        <a:t>Widget renders in a real host and data matches Salesforce</a:t>
                      </a:r>
                    </a:p>
                  </a:txBody>
                  <a:tcPr marL="73152" marR="73152" marT="36576" marB="36576">
                    <a:solidFill>
                      <a:srgbClr val="FFFDF8"/>
                    </a:solidFill>
                  </a:tcPr>
                </a:tc>
                <a:tc>
                  <a:txBody>
                    <a:bodyPr/>
                    <a:lstStyle/>
                    <a:p>
                      <a:r>
                        <a:rPr sz="1400" b="0">
                          <a:solidFill>
                            <a:srgbClr val="1A1A2E"/>
                          </a:solidFill>
                          <a:latin typeface="Calibri"/>
                          <a:ea typeface="Calibri"/>
                          <a:cs typeface="Calibri"/>
                        </a:rPr>
                        <a:t>Verified in Claude Desktop</a:t>
                      </a:r>
                    </a:p>
                  </a:txBody>
                  <a:tcPr marL="73152" marR="73152" marT="36576" marB="36576">
                    <a:solidFill>
                      <a:srgbClr val="FFFDF8"/>
                    </a:solidFill>
                  </a:tcPr>
                </a:tc>
              </a:tr>
              <a:tr h="640080">
                <a:tc>
                  <a:txBody>
                    <a:bodyPr/>
                    <a:lstStyle/>
                    <a:p>
                      <a:r>
                        <a:rPr sz="1400" b="0">
                          <a:solidFill>
                            <a:srgbClr val="1A1A2E"/>
                          </a:solidFill>
                          <a:latin typeface="Calibri"/>
                          <a:ea typeface="Calibri"/>
                          <a:cs typeface="Calibri"/>
                        </a:rPr>
                        <a:t>2</a:t>
                      </a:r>
                    </a:p>
                  </a:txBody>
                  <a:tcPr marL="73152" marR="73152" marT="36576" marB="36576">
                    <a:solidFill>
                      <a:srgbClr val="F7F4EE"/>
                    </a:solidFill>
                  </a:tcPr>
                </a:tc>
                <a:tc>
                  <a:txBody>
                    <a:bodyPr/>
                    <a:lstStyle/>
                    <a:p>
                      <a:r>
                        <a:rPr sz="1400" b="0">
                          <a:solidFill>
                            <a:srgbClr val="1A1A2E"/>
                          </a:solidFill>
                          <a:latin typeface="Calibri"/>
                          <a:ea typeface="Calibri"/>
                          <a:cs typeface="Calibri"/>
                        </a:rPr>
                        <a:t>Registration creates a second real customer identity</a:t>
                      </a:r>
                    </a:p>
                  </a:txBody>
                  <a:tcPr marL="73152" marR="73152" marT="36576" marB="36576">
                    <a:solidFill>
                      <a:srgbClr val="F7F4EE"/>
                    </a:solidFill>
                  </a:tcPr>
                </a:tc>
                <a:tc>
                  <a:txBody>
                    <a:bodyPr/>
                    <a:lstStyle/>
                    <a:p>
                      <a:r>
                        <a:rPr sz="1400" b="0">
                          <a:solidFill>
                            <a:srgbClr val="1A1A2E"/>
                          </a:solidFill>
                          <a:latin typeface="Calibri"/>
                          <a:ea typeface="Calibri"/>
                          <a:cs typeface="Calibri"/>
                        </a:rPr>
                        <a:t>Pending: init endpoint blocked</a:t>
                      </a:r>
                    </a:p>
                  </a:txBody>
                  <a:tcPr marL="73152" marR="73152" marT="36576" marB="36576">
                    <a:solidFill>
                      <a:srgbClr val="F7F4EE"/>
                    </a:solidFill>
                  </a:tcPr>
                </a:tc>
              </a:tr>
              <a:tr h="640080">
                <a:tc>
                  <a:txBody>
                    <a:bodyPr/>
                    <a:lstStyle/>
                    <a:p>
                      <a:r>
                        <a:rPr sz="1400" b="0">
                          <a:solidFill>
                            <a:srgbClr val="1A1A2E"/>
                          </a:solidFill>
                          <a:latin typeface="Calibri"/>
                          <a:ea typeface="Calibri"/>
                          <a:cs typeface="Calibri"/>
                        </a:rPr>
                        <a:t>3</a:t>
                      </a:r>
                    </a:p>
                  </a:txBody>
                  <a:tcPr marL="73152" marR="73152" marT="36576" marB="36576">
                    <a:solidFill>
                      <a:srgbClr val="FFFDF8"/>
                    </a:solidFill>
                  </a:tcPr>
                </a:tc>
                <a:tc>
                  <a:txBody>
                    <a:bodyPr/>
                    <a:lstStyle/>
                    <a:p>
                      <a:r>
                        <a:rPr sz="1400" b="0">
                          <a:solidFill>
                            <a:srgbClr val="1A1A2E"/>
                          </a:solidFill>
                          <a:latin typeface="Calibri"/>
                          <a:ea typeface="Calibri"/>
                          <a:cs typeface="Calibri"/>
                        </a:rPr>
                        <a:t>Two identities prove cross-customer refusal on live hosts</a:t>
                      </a:r>
                    </a:p>
                  </a:txBody>
                  <a:tcPr marL="73152" marR="73152" marT="36576" marB="36576">
                    <a:solidFill>
                      <a:srgbClr val="FFFDF8"/>
                    </a:solidFill>
                  </a:tcPr>
                </a:tc>
                <a:tc>
                  <a:txBody>
                    <a:bodyPr/>
                    <a:lstStyle/>
                    <a:p>
                      <a:r>
                        <a:rPr sz="1400" b="0">
                          <a:solidFill>
                            <a:srgbClr val="1A1A2E"/>
                          </a:solidFill>
                          <a:latin typeface="Calibri"/>
                          <a:ea typeface="Calibri"/>
                          <a:cs typeface="Calibri"/>
                        </a:rPr>
                        <a:t>Server controls verified; second identity pending</a:t>
                      </a:r>
                    </a:p>
                  </a:txBody>
                  <a:tcPr marL="73152" marR="73152" marT="36576" marB="36576">
                    <a:solidFill>
                      <a:srgbClr val="FFFDF8"/>
                    </a:solidFill>
                  </a:tcPr>
                </a:tc>
              </a:tr>
            </a:tbl>
          </a:graphicData>
        </a:graphic>
      </p:graphicFrame>
    </p:spTree>
    <p:extLst>
      <p:ext uri="{BB962C8B-B14F-4D97-AF65-F5344CB8AC3E}">
        <p14:creationId xmlns:p14="http://schemas.microsoft.com/office/powerpoint/2010/main" val="1996393318"/>
      </p:ext>
    </p:extLst>
  </p:cSld>
</p:sld>
</file>

<file path=ppt/slides/slide1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CF93CA4-AC8B-45E1-9CB0-C8205630F2B4}"/>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BFE6CEC3-FA1E-409B-A48C-88CA1F1C6146}"/>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14</a:t>
            </a:r>
          </a:p>
        </p:txBody>
      </p:sp>
      <p:sp>
        <p:nvSpPr>
          <p:cNvPr id="4" name="TextBox 3">
            <a:extLst xmlns:a="http://schemas.openxmlformats.org/drawingml/2006/main">
              <a:ext uri="{FF2B5EF4-FFF2-40B4-BE49-F238E27FC236}">
                <a16:creationId xmlns:a16="http://schemas.microsoft.com/office/drawing/2014/main" id="{A391DD9E-F9FC-4233-A1EA-CF484F2D49AD}"/>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Decision and next step</a:t>
            </a:r>
          </a:p>
        </p:txBody>
      </p:sp>
      <p:sp>
        <p:nvSpPr>
          <p:cNvPr id="5" name="Rectangle 4">
            <a:extLst xmlns:a="http://schemas.openxmlformats.org/drawingml/2006/main">
              <a:ext uri="{FF2B5EF4-FFF2-40B4-BE49-F238E27FC236}">
                <a16:creationId xmlns:a16="http://schemas.microsoft.com/office/drawing/2014/main" id="{349D0A5A-80E5-4F4A-9448-A01F0653F8DC}"/>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13E9ED1-BB24-4246-888E-3C0256FA2BB9}"/>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pPr>
            <a:r>
              <a:rPr sz="1700" b="0">
                <a:solidFill>
                  <a:srgbClr val="1A1A2E"/>
                </a:solidFill>
                <a:latin typeface="Calibri"/>
                <a:ea typeface="Calibri"/>
                <a:cs typeface="Calibri"/>
              </a:rPr>
              <a:t>•  </a:t>
            </a:r>
            <a:r>
              <a:rPr sz="1700" b="1">
                <a:solidFill>
                  <a:srgbClr val="1A1A2E"/>
                </a:solidFill>
                <a:latin typeface="Calibri"/>
                <a:ea typeface="Calibri"/>
                <a:cs typeface="Calibri"/>
              </a:rPr>
              <a:t>Two days</a:t>
            </a:r>
            <a:r>
              <a:rPr sz="1700" b="0">
                <a:solidFill>
                  <a:srgbClr val="1A1A2E"/>
                </a:solidFill>
                <a:latin typeface="Calibri"/>
                <a:ea typeface="Calibri"/>
                <a:cs typeface="Calibri"/>
              </a:rPr>
              <a:t> — confirm the render on Claude Desktop and one hosted surface (ChatGPT first; Slack if the workspace allows), with the write-back and audit row from each.</a:t>
            </a:r>
          </a:p>
          <a:p xmlns:a="http://schemas.openxmlformats.org/drawingml/2006/main">
            <a:pPr>
              <a:spcAft>
                <a:spcPts val="1400"/>
              </a:spcAft>
              <a:buNone/>
            </a:pPr>
            <a:r>
              <a:rPr sz="1700" b="0">
                <a:solidFill>
                  <a:srgbClr val="1A1A2E"/>
                </a:solidFill>
                <a:latin typeface="Calibri"/>
                <a:ea typeface="Calibri"/>
                <a:cs typeface="Calibri"/>
              </a:rPr>
              <a:t>•  </a:t>
            </a:r>
            <a:r>
              <a:rPr sz="1700" b="1">
                <a:solidFill>
                  <a:srgbClr val="1A1A2E"/>
                </a:solidFill>
                <a:latin typeface="Calibri"/>
                <a:ea typeface="Calibri"/>
                <a:cs typeface="Calibri"/>
              </a:rPr>
              <a:t>Three to five days</a:t>
            </a:r>
            <a:r>
              <a:rPr sz="1700" b="0">
                <a:solidFill>
                  <a:srgbClr val="1A1A2E"/>
                </a:solidFill>
                <a:latin typeface="Calibri"/>
                <a:ea typeface="Calibri"/>
                <a:cs typeface="Calibri"/>
              </a:rPr>
              <a:t> — the certificate route to unblock Registration, then the two-person, two-host demonstration.</a:t>
            </a:r>
          </a:p>
          <a:p xmlns:a="http://schemas.openxmlformats.org/drawingml/2006/main">
            <a:pPr>
              <a:spcAft>
                <a:spcPts val="1400"/>
              </a:spcAft>
              <a:buNone/>
            </a:pPr>
            <a:r>
              <a:rPr sz="1700" b="0">
                <a:solidFill>
                  <a:srgbClr val="1A1A2E"/>
                </a:solidFill>
                <a:latin typeface="Calibri"/>
                <a:ea typeface="Calibri"/>
                <a:cs typeface="Calibri"/>
              </a:rPr>
              <a:t>•  </a:t>
            </a:r>
            <a:r>
              <a:rPr sz="1700" b="1">
                <a:solidFill>
                  <a:srgbClr val="1A1A2E"/>
                </a:solidFill>
                <a:latin typeface="Calibri"/>
                <a:ea typeface="Calibri"/>
                <a:cs typeface="Calibri"/>
              </a:rPr>
              <a:t>A decision</a:t>
            </a:r>
            <a:r>
              <a:rPr sz="1700" b="0">
                <a:solidFill>
                  <a:srgbClr val="1A1A2E"/>
                </a:solidFill>
                <a:latin typeface="Calibri"/>
                <a:ea typeface="Calibri"/>
                <a:cs typeface="Calibri"/>
              </a:rPr>
              <a:t> — licensing confirmation with Salesforce before anything here is relied on commercially.</a:t>
            </a:r>
          </a:p>
          <a:p xmlns:a="http://schemas.openxmlformats.org/drawingml/2006/main">
            <a:pPr>
              <a:spcAft>
                <a:spcPts val="1400"/>
              </a:spcAft>
              <a:buNone/>
            </a:pPr>
            <a:r>
              <a:rPr sz="1700" b="0">
                <a:solidFill>
                  <a:srgbClr val="1A1A2E"/>
                </a:solidFill>
                <a:latin typeface="Calibri"/>
                <a:ea typeface="Calibri"/>
                <a:cs typeface="Calibri"/>
              </a:rPr>
              <a:t>•  </a:t>
            </a:r>
            <a:r>
              <a:rPr sz="1700" b="1">
                <a:solidFill>
                  <a:srgbClr val="1A1A2E"/>
                </a:solidFill>
                <a:latin typeface="Calibri"/>
                <a:ea typeface="Calibri"/>
                <a:cs typeface="Calibri"/>
              </a:rPr>
              <a:t>Then</a:t>
            </a:r>
            <a:r>
              <a:rPr sz="1700" b="0">
                <a:solidFill>
                  <a:srgbClr val="1A1A2E"/>
                </a:solidFill>
                <a:latin typeface="Calibri"/>
                <a:ea typeface="Calibri"/>
                <a:cs typeface="Calibri"/>
              </a:rPr>
              <a:t> — scope MCP OAuth with the identity layer as authorization server: the identity broker Salesforce’s own material does not provide.</a:t>
            </a:r>
          </a:p>
        </p:txBody>
      </p:sp>
    </p:spTree>
    <p:extLst>
      <p:ext uri="{BB962C8B-B14F-4D97-AF65-F5344CB8AC3E}">
        <p14:creationId xmlns:p14="http://schemas.microsoft.com/office/powerpoint/2010/main" val="1372423047"/>
      </p:ext>
    </p:extLst>
  </p:cSld>
</p:sld>
</file>

<file path=ppt/slides/slide1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FB01FB3-E64A-4D1B-AABF-D8E2E0CE4E01}"/>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AA716F50-23DD-49D4-8B8F-980D926C57EF}"/>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15</a:t>
            </a:r>
          </a:p>
        </p:txBody>
      </p:sp>
      <p:sp>
        <p:nvSpPr>
          <p:cNvPr id="4" name="TextBox 3">
            <a:extLst xmlns:a="http://schemas.openxmlformats.org/drawingml/2006/main">
              <a:ext uri="{FF2B5EF4-FFF2-40B4-BE49-F238E27FC236}">
                <a16:creationId xmlns:a16="http://schemas.microsoft.com/office/drawing/2014/main" id="{B34923F5-D788-41D3-A74D-11485F0A4648}"/>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Appendix</a:t>
            </a:r>
          </a:p>
        </p:txBody>
      </p:sp>
      <p:sp>
        <p:nvSpPr>
          <p:cNvPr id="5" name="TextBox 4">
            <a:extLst xmlns:a="http://schemas.openxmlformats.org/drawingml/2006/main">
              <a:ext uri="{FF2B5EF4-FFF2-40B4-BE49-F238E27FC236}">
                <a16:creationId xmlns:a16="http://schemas.microsoft.com/office/drawing/2014/main" id="{6CEC54CB-7814-4887-91BC-525512EA28E7}"/>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Fallbacks if anything live refuses to cooperate</a:t>
            </a:r>
          </a:p>
        </p:txBody>
      </p:sp>
      <p:sp>
        <p:nvSpPr>
          <p:cNvPr id="6" name="Rectangle 5">
            <a:extLst xmlns:a="http://schemas.openxmlformats.org/drawingml/2006/main">
              <a:ext uri="{FF2B5EF4-FFF2-40B4-BE49-F238E27FC236}">
                <a16:creationId xmlns:a16="http://schemas.microsoft.com/office/drawing/2014/main" id="{9A866A3C-40AA-4935-B609-A071368250D0}"/>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5F2FB58-12D5-4E2D-96A0-475845E3B015}"/>
              </a:ext>
            </a:extLst>
          </p:cNvPr>
          <p:cNvSpPr>
            <a:spLocks xmlns:a="http://schemas.openxmlformats.org/drawingml/2006/main" noGrp="1"/>
          </p:cNvSpPr>
          <p:nvPr/>
        </p:nvSpPr>
        <p:spPr>
          <a:xfrm xmlns:a="http://schemas.openxmlformats.org/drawingml/2006/main">
            <a:off x="640080" y="2011680"/>
            <a:ext cx="10972800" cy="3657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600" b="0">
                <a:solidFill>
                  <a:srgbClr val="1A1A2E"/>
                </a:solidFill>
                <a:latin typeface="Calibri"/>
                <a:ea typeface="Calibri"/>
                <a:cs typeface="Calibri"/>
              </a:rPr>
              <a:t>•  A1 — Screenshots per host: card, button, audit row  </a:t>
            </a:r>
            <a:r>
              <a:rPr sz="1600" b="1">
                <a:solidFill>
                  <a:srgbClr val="1A1A2E"/>
                </a:solidFill>
                <a:latin typeface="Calibri"/>
                <a:ea typeface="Calibri"/>
                <a:cs typeface="Calibri"/>
              </a:rPr>
              <a:t>(add before the demo)</a:t>
            </a:r>
          </a:p>
          <a:p xmlns:a="http://schemas.openxmlformats.org/drawingml/2006/main">
            <a:pPr>
              <a:spcAft>
                <a:spcPts val="1000"/>
              </a:spcAft>
              <a:buNone/>
            </a:pPr>
            <a:r>
              <a:rPr sz="1600" b="0">
                <a:solidFill>
                  <a:srgbClr val="1A1A2E"/>
                </a:solidFill>
                <a:latin typeface="Calibri"/>
                <a:ea typeface="Calibri"/>
                <a:cs typeface="Calibri"/>
              </a:rPr>
              <a:t>•  A2 — Full findings table (17) — </a:t>
            </a:r>
            <a:r>
              <a:rPr sz="1400">
                <a:solidFill>
                  <a:srgbClr val="1A1A2E"/>
                </a:solidFill>
                <a:latin typeface="Consolas"/>
                <a:ea typeface="Consolas"/>
                <a:cs typeface="Consolas"/>
              </a:rPr>
              <a:t>hxl-demo/HXL_ORG_CONTEXT.md</a:t>
            </a:r>
            <a:r>
              <a:rPr sz="1600" b="0">
                <a:solidFill>
                  <a:srgbClr val="1A1A2E"/>
                </a:solidFill>
                <a:latin typeface="Calibri"/>
                <a:ea typeface="Calibri"/>
                <a:cs typeface="Calibri"/>
              </a:rPr>
              <a:t>, </a:t>
            </a:r>
            <a:r>
              <a:rPr sz="1400">
                <a:solidFill>
                  <a:srgbClr val="1A1A2E"/>
                </a:solidFill>
                <a:latin typeface="Consolas"/>
                <a:ea typeface="Consolas"/>
                <a:cs typeface="Consolas"/>
              </a:rPr>
              <a:t>TRACK_B_ORG_CONTEXT.md</a:t>
            </a:r>
          </a:p>
          <a:p xmlns:a="http://schemas.openxmlformats.org/drawingml/2006/main">
            <a:pPr>
              <a:spcAft>
                <a:spcPts val="1000"/>
              </a:spcAft>
              <a:buNone/>
            </a:pPr>
            <a:r>
              <a:rPr sz="1600" b="0">
                <a:solidFill>
                  <a:srgbClr val="1A1A2E"/>
                </a:solidFill>
                <a:latin typeface="Calibri"/>
                <a:ea typeface="Calibri"/>
                <a:cs typeface="Calibri"/>
              </a:rPr>
              <a:t>•  A3 — The attempts table for the init-endpoint wall</a:t>
            </a:r>
          </a:p>
          <a:p xmlns:a="http://schemas.openxmlformats.org/drawingml/2006/main">
            <a:pPr>
              <a:spcAft>
                <a:spcPts val="1000"/>
              </a:spcAft>
              <a:buNone/>
            </a:pPr>
            <a:r>
              <a:rPr sz="1600" b="0">
                <a:solidFill>
                  <a:srgbClr val="1A1A2E"/>
                </a:solidFill>
                <a:latin typeface="Calibri"/>
                <a:ea typeface="Calibri"/>
                <a:cs typeface="Calibri"/>
              </a:rPr>
              <a:t>•  A4 — </a:t>
            </a:r>
            <a:r>
              <a:rPr sz="1400">
                <a:solidFill>
                  <a:srgbClr val="1A1A2E"/>
                </a:solidFill>
                <a:latin typeface="Consolas"/>
                <a:ea typeface="Consolas"/>
                <a:cs typeface="Consolas"/>
              </a:rPr>
              <a:t>/sessions</a:t>
            </a:r>
            <a:r>
              <a:rPr sz="1600" b="0">
                <a:solidFill>
                  <a:srgbClr val="1A1A2E"/>
                </a:solidFill>
                <a:latin typeface="Calibri"/>
                <a:ea typeface="Calibri"/>
                <a:cs typeface="Calibri"/>
              </a:rPr>
              <a:t> JSON: two Contact Ids, no tokens</a:t>
            </a:r>
          </a:p>
          <a:p xmlns:a="http://schemas.openxmlformats.org/drawingml/2006/main">
            <a:pPr>
              <a:spcAft>
                <a:spcPts val="1000"/>
              </a:spcAft>
              <a:buNone/>
            </a:pPr>
            <a:r>
              <a:rPr sz="1600" b="0">
                <a:solidFill>
                  <a:srgbClr val="1A1A2E"/>
                </a:solidFill>
                <a:latin typeface="Calibri"/>
                <a:ea typeface="Calibri"/>
                <a:cs typeface="Calibri"/>
              </a:rPr>
              <a:t>•  A5 — The sharing SOQL, before and after the View All fix</a:t>
            </a:r>
          </a:p>
          <a:p xmlns:a="http://schemas.openxmlformats.org/drawingml/2006/main">
            <a:pPr>
              <a:spcAft>
                <a:spcPts val="1000"/>
              </a:spcAft>
              <a:buNone/>
            </a:pPr>
            <a:r>
              <a:rPr sz="1600" b="0">
                <a:solidFill>
                  <a:srgbClr val="1A1A2E"/>
                </a:solidFill>
                <a:latin typeface="Calibri"/>
                <a:ea typeface="Calibri"/>
                <a:cs typeface="Calibri"/>
              </a:rPr>
              <a:t>•  A6 — The prompt-injection transcript</a:t>
            </a:r>
          </a:p>
        </p:txBody>
      </p:sp>
    </p:spTree>
    <p:extLst>
      <p:ext uri="{BB962C8B-B14F-4D97-AF65-F5344CB8AC3E}">
        <p14:creationId xmlns:p14="http://schemas.microsoft.com/office/powerpoint/2010/main" val="161078337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2026-09-14T18:15:41.3860000Z</dcterms:created>
  <dcterms:modified xsi:type="dcterms:W3CDTF">2026-09-14T18:15:41.3860000Z</dcterms:modified>
</coreProperties>
</file>