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once, render anywhere — as one specific person. That last clause is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Salesforce features, both nicknamed HXL, both about 'headless'. Headless Identity logs a customer in with no Salesforce screen. The Headless Experience Layer lets you describe a card once and have Claude, ChatGPT, Slack or Agentforce draw it. They are not the same thing and they don't know about each other. The question I set out to answer is whether the seam between them holds.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the seam matters. The default way to give an AI agent Salesforce data is an integration user — one credential, broad visibility, the agent decides what to show. If that agent is prompt-injected, it inherits everything that user can see. On the right is what we built instead: the agent-facing server holds no Salesforce credential at all. It signs in as one named customer through the identity layer and can only ever see what that one person can see.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the boxes that hold a Salesforce token — one, the identity layer. The MCP server talking to Claude or ChatGPT never sees it. The browser never sees it. Apex reads the Contact off the token and refuses to take a user id from anyone. And every write carries a channel label so the audit trail says not just who, but from where.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proven — each line was verified against the live org through the running software, not inferred from documentation. The row to hold onto is 'sharing enforced, not filtered'. Update the last row's host-render status on the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that claim means. Ada's token, Grace Hopper's nine-thousand-dollar order, four different ways of asking. Through the app's list: absent. Through curl straight at the API by record Id: 404. Through a chat window: not found. Through a prompt-injected chat told to list every customer's orders: sixteen orders, all Ada's. None of those refusals is in code we wrote.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nearly didn't include. For a week, the previous slide was false. The customer profile had View All Records switched on for the order object. View All bypasses sharing entirely. Every earlier demo filtered the query by contact — so it looked like sharing, and it was actually a WHERE clause. We only found it when we built a tool that asks for a record by Id with no filter — and Ada got Grace's order back. Fixed with a sharing set, View All off, re-verified. The lesson generalises: a sharing claim is only real if something in the demo asks without filtering and is refused.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Hosts. Same server code reaches Claude Desktop over stdio and ChatGPT and Slack over HTTPS. Two things worth being precise about: Slack works only through Slackbot's MCP Apps path — Block Kit cannot render these widgets, that's Salesforce's statement not mine — and Codex can call the tools but is a terminal, so nothing renders there. I won't show you a text reply and call it a render.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Every write goes in as the customer, owner from the token, channel from the layer. That's the query on screen — one owner, four channels including a cancel. You'll see it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Seventeen places the documentation and the org disagreed, each reproduced and written up. The Setup UI silently not saving is the one that costs the most time; the platform rewriting your widget JSON is the one that will surprise your source control; and the tmpVar1 error is the one you'll google and find nothing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doesn't work. Three of four identity flows are blocked at the org's init-endpoint wall; every credential that can be minted is rejected differently, converging on one root cause. The recommended route is a signing certificate and about forty lines of JWT. Also: in this POC the password goes through the chat to sign in. That's a demo shortcut. The real design is MCP OAuth with the identity layer as the authorization server.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ask — this runs on Experience Cloud licensing. Customer Community users. An invisible site is not a free one. And API access was granted at a tier that doesn't normally include it; it works, and I've flagged it rather than assumed it away.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checkboxes as they actually stand.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not the feature. Use whichever variant is true on the 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let a live failure be the only version the room sees.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a:t>
            </a:r>
          </a:p>
        </p:txBody>
      </p:sp>
      <p:sp>
        <p:nvSpPr>
          <p:cNvPr id="4" name="TextBox 3"/>
          <p:cNvSpPr txBox="1"/>
          <p:nvPr/>
        </p:nvSpPr>
        <p:spPr>
          <a:xfrm>
            <a:off x="822960" y="2103120"/>
            <a:ext cx="10515600" cy="1463040"/>
          </a:xfrm>
          <a:prstGeom prst="rect">
            <a:avLst/>
          </a:prstGeom>
          <a:noFill/>
        </p:spPr>
        <p:txBody>
          <a:bodyPr wrap="square" anchor="t" lIns="45720" rIns="45720">
            <a:spAutoFit/>
          </a:bodyPr>
          <a:lstStyle/>
          <a:p>
            <a:pPr algn="l"/>
            <a:r>
              <a:rPr b="1" sz="4400">
                <a:solidFill>
                  <a:srgbClr val="1A1A2E"/>
                </a:solidFill>
                <a:latin typeface="Calibri"/>
              </a:rPr>
              <a:t>Build once, render anywhere —
as one specific person.</a:t>
            </a:r>
          </a:p>
        </p:txBody>
      </p:sp>
      <p:sp>
        <p:nvSpPr>
          <p:cNvPr id="5" name="TextBox 4"/>
          <p:cNvSpPr txBox="1"/>
          <p:nvPr/>
        </p:nvSpPr>
        <p:spPr>
          <a:xfrm>
            <a:off x="822960" y="3840480"/>
            <a:ext cx="10058400" cy="548640"/>
          </a:xfrm>
          <a:prstGeom prst="rect">
            <a:avLst/>
          </a:prstGeom>
          <a:noFill/>
        </p:spPr>
        <p:txBody>
          <a:bodyPr wrap="square" anchor="t" lIns="45720" rIns="45720">
            <a:spAutoFit/>
          </a:bodyPr>
          <a:lstStyle/>
          <a:p>
            <a:pPr algn="l"/>
            <a:r>
              <a:rPr b="0" sz="2200">
                <a:solidFill>
                  <a:srgbClr val="B45309"/>
                </a:solidFill>
                <a:latin typeface="Calibri"/>
              </a:rPr>
              <a:t>Headless Salesforce POC · Phase 2</a:t>
            </a:r>
          </a:p>
        </p:txBody>
      </p:sp>
      <p:sp>
        <p:nvSpPr>
          <p:cNvPr id="6" name="TextBox 5"/>
          <p:cNvSpPr txBox="1"/>
          <p:nvPr/>
        </p:nvSpPr>
        <p:spPr>
          <a:xfrm>
            <a:off x="822960" y="4389120"/>
            <a:ext cx="10058400" cy="1097280"/>
          </a:xfrm>
          <a:prstGeom prst="rect">
            <a:avLst/>
          </a:prstGeom>
          <a:noFill/>
        </p:spPr>
        <p:txBody>
          <a:bodyPr wrap="square" anchor="t" lIns="45720" rIns="45720">
            <a:spAutoFit/>
          </a:bodyPr>
          <a:lstStyle/>
          <a:p>
            <a:pPr algn="l"/>
            <a:r>
              <a:rPr b="0" sz="1600">
                <a:solidFill>
                  <a:srgbClr val="78716C"/>
                </a:solidFill>
                <a:latin typeface="Calibri"/>
              </a:rPr>
              <a:t>Headless Identity + Headless Experience Layer, and the seam between them</a:t>
            </a:r>
          </a:p>
          <a:p>
            <a:pPr algn="l"/>
            <a:r>
              <a:rPr b="0" sz="1600">
                <a:solidFill>
                  <a:srgbClr val="78716C"/>
                </a:solidFill>
                <a:latin typeface="Calibri"/>
              </a:rPr>
              <a:t>12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2</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The question</a:t>
            </a:r>
          </a:p>
        </p:txBody>
      </p:sp>
      <p:sp>
        <p:nvSpPr>
          <p:cNvPr id="5" name="Rectangle 4"/>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10972800" cy="1280160"/>
          </a:xfrm>
          <a:prstGeom prst="rect">
            <a:avLst/>
          </a:prstGeom>
          <a:noFill/>
        </p:spPr>
        <p:txBody>
          <a:bodyPr wrap="square" anchor="t" lIns="45720" rIns="45720">
            <a:spAutoFit/>
          </a:bodyPr>
          <a:lstStyle/>
          <a:p>
            <a:pPr algn="l"/>
            <a:r>
              <a:rPr b="1" sz="2400">
                <a:solidFill>
                  <a:srgbClr val="1A1A2E"/>
                </a:solidFill>
                <a:latin typeface="Calibri"/>
              </a:rPr>
              <a:t>Can a customer experience run on Salesforce with zero Salesforce-hosted UI — and can an AI agent act for that customer without becoming a superuser?</a:t>
            </a:r>
          </a:p>
        </p:txBody>
      </p:sp>
      <p:sp>
        <p:nvSpPr>
          <p:cNvPr id="7" name="TextBox 6"/>
          <p:cNvSpPr txBox="1"/>
          <p:nvPr/>
        </p:nvSpPr>
        <p:spPr>
          <a:xfrm>
            <a:off x="640080" y="3566160"/>
            <a:ext cx="10972800" cy="1828800"/>
          </a:xfrm>
          <a:prstGeom prst="rect">
            <a:avLst/>
          </a:prstGeom>
          <a:noFill/>
        </p:spPr>
        <p:txBody>
          <a:bodyPr wrap="square">
            <a:spAutoFit/>
          </a:bodyPr>
          <a:lstStyle/>
          <a:p>
            <a:pPr>
              <a:spcAft>
                <a:spcPts val="600"/>
              </a:spcAft>
            </a:pPr>
            <a:r>
              <a:rPr b="0" sz="2000">
                <a:solidFill>
                  <a:srgbClr val="1A1A2E"/>
                </a:solidFill>
                <a:latin typeface="Calibri"/>
              </a:rPr>
              <a:t>•  </a:t>
            </a:r>
            <a:r>
              <a:rPr b="1" sz="2000">
                <a:solidFill>
                  <a:srgbClr val="1A1A2E"/>
                </a:solidFill>
                <a:latin typeface="Calibri"/>
              </a:rPr>
              <a:t>Headless Identity</a:t>
            </a:r>
            <a:r>
              <a:rPr b="0" sz="2000">
                <a:solidFill>
                  <a:srgbClr val="1A1A2E"/>
                </a:solidFill>
                <a:latin typeface="Calibri"/>
              </a:rPr>
              <a:t> (GA) — log a customer in with no Salesforce page.</a:t>
            </a:r>
          </a:p>
          <a:p>
            <a:pPr>
              <a:spcAft>
                <a:spcPts val="600"/>
              </a:spcAft>
            </a:pPr>
            <a:r>
              <a:rPr b="0" sz="2000">
                <a:solidFill>
                  <a:srgbClr val="1A1A2E"/>
                </a:solidFill>
                <a:latin typeface="Calibri"/>
              </a:rPr>
              <a:t>•  </a:t>
            </a:r>
            <a:r>
              <a:rPr b="1" sz="2000">
                <a:solidFill>
                  <a:srgbClr val="1A1A2E"/>
                </a:solidFill>
                <a:latin typeface="Calibri"/>
              </a:rPr>
              <a:t>Headless Experience Layer</a:t>
            </a:r>
            <a:r>
              <a:rPr b="0" sz="2000">
                <a:solidFill>
                  <a:srgbClr val="1A1A2E"/>
                </a:solidFill>
                <a:latin typeface="Calibri"/>
              </a:rPr>
              <a:t> (Beta) — describe a UI once; Claude, ChatGPT, Slack, Agentforce render it.</a:t>
            </a:r>
          </a:p>
        </p:txBody>
      </p:sp>
      <p:sp>
        <p:nvSpPr>
          <p:cNvPr id="8" name="Rounded Rectangle 7"/>
          <p:cNvSpPr/>
          <p:nvPr/>
        </p:nvSpPr>
        <p:spPr>
          <a:xfrm>
            <a:off x="640080" y="5120640"/>
            <a:ext cx="10972800" cy="731520"/>
          </a:xfrm>
          <a:prstGeom prst="roundRect">
            <a:avLst>
              <a:gd name="adj" fmla="val 8000"/>
            </a:avLst>
          </a:prstGeom>
          <a:solidFill>
            <a:srgbClr val="FFF8E8"/>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0" sz="1600">
                <a:solidFill>
                  <a:srgbClr val="1A1A2E"/>
                </a:solidFill>
                <a:latin typeface="Calibri"/>
              </a:rPr>
              <a:t>Both get called "HXL". They are unrelated features. This POC is about the seam between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3</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Why the seam matters</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HXL answers where the UI shows up. It does not answer who is asking.</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5303520" cy="457200"/>
          </a:xfrm>
          <a:prstGeom prst="rect">
            <a:avLst/>
          </a:prstGeom>
          <a:noFill/>
        </p:spPr>
        <p:txBody>
          <a:bodyPr wrap="square" anchor="t" lIns="45720" rIns="45720">
            <a:spAutoFit/>
          </a:bodyPr>
          <a:lstStyle/>
          <a:p>
            <a:pPr algn="l"/>
            <a:r>
              <a:rPr b="1" sz="1800">
                <a:solidFill>
                  <a:srgbClr val="991B1B"/>
                </a:solidFill>
                <a:latin typeface="Calibri"/>
              </a:rPr>
              <a:t>The default pattern</a:t>
            </a:r>
          </a:p>
        </p:txBody>
      </p:sp>
      <p:sp>
        <p:nvSpPr>
          <p:cNvPr id="8" name="Rounded Rectangle 7"/>
          <p:cNvSpPr/>
          <p:nvPr/>
        </p:nvSpPr>
        <p:spPr>
          <a:xfrm>
            <a:off x="640080" y="2560320"/>
            <a:ext cx="2194560" cy="914400"/>
          </a:xfrm>
          <a:prstGeom prst="roundRect">
            <a:avLst>
              <a:gd name="adj" fmla="val 8000"/>
            </a:avLst>
          </a:prstGeom>
          <a:solidFill>
            <a:srgbClr val="E7E5E4"/>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0" sz="1400">
                <a:solidFill>
                  <a:srgbClr val="1A1A2E"/>
                </a:solidFill>
                <a:latin typeface="Calibri"/>
              </a:rPr>
              <a:t>AI agent</a:t>
            </a:r>
          </a:p>
        </p:txBody>
      </p:sp>
      <p:sp>
        <p:nvSpPr>
          <p:cNvPr id="9" name="Rounded Rectangle 8"/>
          <p:cNvSpPr/>
          <p:nvPr/>
        </p:nvSpPr>
        <p:spPr>
          <a:xfrm>
            <a:off x="3291840" y="2560320"/>
            <a:ext cx="2651760" cy="914400"/>
          </a:xfrm>
          <a:prstGeom prst="roundRect">
            <a:avLst>
              <a:gd name="adj" fmla="val 8000"/>
            </a:avLst>
          </a:prstGeom>
          <a:solidFill>
            <a:srgbClr val="FEE2E2"/>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400">
                <a:solidFill>
                  <a:srgbClr val="991B1B"/>
                </a:solidFill>
                <a:latin typeface="Calibri"/>
              </a:rPr>
              <a:t>Integration user</a:t>
            </a:r>
          </a:p>
          <a:p>
            <a:pPr algn="ctr"/>
            <a:r>
              <a:rPr b="0" sz="1400">
                <a:solidFill>
                  <a:srgbClr val="991B1B"/>
                </a:solidFill>
                <a:latin typeface="Calibri"/>
              </a:rPr>
              <a:t>broad access</a:t>
            </a:r>
          </a:p>
        </p:txBody>
      </p:sp>
      <p:cxnSp>
        <p:nvCxnSpPr>
          <p:cNvPr id="10" name="Connector 9"/>
          <p:cNvCxnSpPr/>
          <p:nvPr/>
        </p:nvCxnSpPr>
        <p:spPr>
          <a:xfrm>
            <a:off x="2834640" y="3017520"/>
            <a:ext cx="457200" cy="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657600"/>
            <a:ext cx="5303520" cy="1463040"/>
          </a:xfrm>
          <a:prstGeom prst="rect">
            <a:avLst/>
          </a:prstGeom>
          <a:noFill/>
        </p:spPr>
        <p:txBody>
          <a:bodyPr wrap="square" anchor="t" lIns="45720" rIns="45720">
            <a:spAutoFit/>
          </a:bodyPr>
          <a:lstStyle/>
          <a:p>
            <a:pPr algn="l"/>
            <a:r>
              <a:rPr b="0" sz="1500">
                <a:solidFill>
                  <a:srgbClr val="1A1A2E"/>
                </a:solidFill>
                <a:latin typeface="Calibri"/>
              </a:rPr>
              <a:t>Prompt-injected agent → inherits everything that user can see. The agent decides what to reveal. Security teams reject this, correctly.</a:t>
            </a:r>
          </a:p>
        </p:txBody>
      </p:sp>
      <p:sp>
        <p:nvSpPr>
          <p:cNvPr id="12" name="TextBox 11"/>
          <p:cNvSpPr txBox="1"/>
          <p:nvPr/>
        </p:nvSpPr>
        <p:spPr>
          <a:xfrm>
            <a:off x="6400800" y="2011680"/>
            <a:ext cx="5303520" cy="457200"/>
          </a:xfrm>
          <a:prstGeom prst="rect">
            <a:avLst/>
          </a:prstGeom>
          <a:noFill/>
        </p:spPr>
        <p:txBody>
          <a:bodyPr wrap="square" anchor="t" lIns="45720" rIns="45720">
            <a:spAutoFit/>
          </a:bodyPr>
          <a:lstStyle/>
          <a:p>
            <a:pPr algn="l"/>
            <a:r>
              <a:rPr b="1" sz="1800">
                <a:solidFill>
                  <a:srgbClr val="14532D"/>
                </a:solidFill>
                <a:latin typeface="Calibri"/>
              </a:rPr>
              <a:t>This POC</a:t>
            </a:r>
          </a:p>
        </p:txBody>
      </p:sp>
      <p:sp>
        <p:nvSpPr>
          <p:cNvPr id="13" name="Rounded Rectangle 12"/>
          <p:cNvSpPr/>
          <p:nvPr/>
        </p:nvSpPr>
        <p:spPr>
          <a:xfrm>
            <a:off x="6400800" y="2560320"/>
            <a:ext cx="2194560" cy="914400"/>
          </a:xfrm>
          <a:prstGeom prst="roundRect">
            <a:avLst>
              <a:gd name="adj" fmla="val 8000"/>
            </a:avLst>
          </a:prstGeom>
          <a:solidFill>
            <a:srgbClr val="E7E5E4"/>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0" sz="1400">
                <a:solidFill>
                  <a:srgbClr val="1A1A2E"/>
                </a:solidFill>
                <a:latin typeface="Calibri"/>
              </a:rPr>
              <a:t>AI agent</a:t>
            </a:r>
          </a:p>
        </p:txBody>
      </p:sp>
      <p:sp>
        <p:nvSpPr>
          <p:cNvPr id="14" name="Rounded Rectangle 13"/>
          <p:cNvSpPr/>
          <p:nvPr/>
        </p:nvSpPr>
        <p:spPr>
          <a:xfrm>
            <a:off x="9052560" y="2560320"/>
            <a:ext cx="2651760" cy="914400"/>
          </a:xfrm>
          <a:prstGeom prst="roundRect">
            <a:avLst>
              <a:gd name="adj" fmla="val 8000"/>
            </a:avLst>
          </a:prstGeom>
          <a:solidFill>
            <a:srgbClr val="DCFCE7"/>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400">
                <a:solidFill>
                  <a:srgbClr val="14532D"/>
                </a:solidFill>
                <a:latin typeface="Calibri"/>
              </a:rPr>
              <a:t>Named-user token</a:t>
            </a:r>
          </a:p>
          <a:p>
            <a:pPr algn="ctr"/>
            <a:r>
              <a:rPr b="0" sz="1400">
                <a:solidFill>
                  <a:srgbClr val="14532D"/>
                </a:solidFill>
                <a:latin typeface="Calibri"/>
              </a:rPr>
              <a:t>one Contact, held in a layer</a:t>
            </a:r>
          </a:p>
        </p:txBody>
      </p:sp>
      <p:cxnSp>
        <p:nvCxnSpPr>
          <p:cNvPr id="15" name="Connector 14"/>
          <p:cNvCxnSpPr/>
          <p:nvPr/>
        </p:nvCxnSpPr>
        <p:spPr>
          <a:xfrm>
            <a:off x="8595360" y="3017520"/>
            <a:ext cx="457200" cy="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0" y="3657600"/>
            <a:ext cx="5303520" cy="1463040"/>
          </a:xfrm>
          <a:prstGeom prst="rect">
            <a:avLst/>
          </a:prstGeom>
          <a:noFill/>
        </p:spPr>
        <p:txBody>
          <a:bodyPr wrap="square" anchor="t" lIns="45720" rIns="45720">
            <a:spAutoFit/>
          </a:bodyPr>
          <a:lstStyle/>
          <a:p>
            <a:pPr algn="l"/>
            <a:r>
              <a:rPr b="0" sz="1500">
                <a:solidFill>
                  <a:srgbClr val="1A1A2E"/>
                </a:solidFill>
                <a:latin typeface="Calibri"/>
              </a:rPr>
              <a:t>The agent-facing server holds no Salesforce credential. It signs in as one customer and can only ever see what that one person can see — decided by the platform, not the prompt.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4</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Architecture</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Only one box holds a Salesforce token — and it is not the one talking to the AI</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103120"/>
            <a:ext cx="2377440" cy="685800"/>
          </a:xfrm>
          <a:prstGeom prst="roundRect">
            <a:avLst>
              <a:gd name="adj" fmla="val 8000"/>
            </a:avLst>
          </a:prstGeom>
          <a:solidFill>
            <a:srgbClr val="E7E5E4"/>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A1A2E"/>
                </a:solidFill>
                <a:latin typeface="Calibri"/>
              </a:rPr>
              <a:t>Claude Desktop</a:t>
            </a:r>
          </a:p>
          <a:p>
            <a:pPr algn="ctr"/>
            <a:r>
              <a:rPr b="0" sz="1300">
                <a:solidFill>
                  <a:srgbClr val="1A1A2E"/>
                </a:solidFill>
                <a:latin typeface="Calibri"/>
              </a:rPr>
              <a:t>stdio</a:t>
            </a:r>
          </a:p>
        </p:txBody>
      </p:sp>
      <p:sp>
        <p:nvSpPr>
          <p:cNvPr id="8" name="Rounded Rectangle 7"/>
          <p:cNvSpPr/>
          <p:nvPr/>
        </p:nvSpPr>
        <p:spPr>
          <a:xfrm>
            <a:off x="640080" y="2971800"/>
            <a:ext cx="2377440" cy="685800"/>
          </a:xfrm>
          <a:prstGeom prst="roundRect">
            <a:avLst>
              <a:gd name="adj" fmla="val 8000"/>
            </a:avLst>
          </a:prstGeom>
          <a:solidFill>
            <a:srgbClr val="E7E5E4"/>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A1A2E"/>
                </a:solidFill>
                <a:latin typeface="Calibri"/>
              </a:rPr>
              <a:t>ChatGPT</a:t>
            </a:r>
          </a:p>
          <a:p>
            <a:pPr algn="ctr"/>
            <a:r>
              <a:rPr b="0" sz="1300">
                <a:solidFill>
                  <a:srgbClr val="1A1A2E"/>
                </a:solidFill>
                <a:latin typeface="Calibri"/>
              </a:rPr>
              <a:t>HTTPS</a:t>
            </a:r>
          </a:p>
        </p:txBody>
      </p:sp>
      <p:sp>
        <p:nvSpPr>
          <p:cNvPr id="9" name="Rounded Rectangle 8"/>
          <p:cNvSpPr/>
          <p:nvPr/>
        </p:nvSpPr>
        <p:spPr>
          <a:xfrm>
            <a:off x="640080" y="3840480"/>
            <a:ext cx="2377440" cy="685800"/>
          </a:xfrm>
          <a:prstGeom prst="roundRect">
            <a:avLst>
              <a:gd name="adj" fmla="val 8000"/>
            </a:avLst>
          </a:prstGeom>
          <a:solidFill>
            <a:srgbClr val="E7E5E4"/>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A1A2E"/>
                </a:solidFill>
                <a:latin typeface="Calibri"/>
              </a:rPr>
              <a:t>Slackbot</a:t>
            </a:r>
          </a:p>
          <a:p>
            <a:pPr algn="ctr"/>
            <a:r>
              <a:rPr b="0" sz="1300">
                <a:solidFill>
                  <a:srgbClr val="1A1A2E"/>
                </a:solidFill>
                <a:latin typeface="Calibri"/>
              </a:rPr>
              <a:t>HTTPS · MCP Apps</a:t>
            </a:r>
          </a:p>
        </p:txBody>
      </p:sp>
      <p:sp>
        <p:nvSpPr>
          <p:cNvPr id="10" name="Rounded Rectangle 9"/>
          <p:cNvSpPr/>
          <p:nvPr/>
        </p:nvSpPr>
        <p:spPr>
          <a:xfrm>
            <a:off x="3931920" y="2651760"/>
            <a:ext cx="2926080" cy="1371600"/>
          </a:xfrm>
          <a:prstGeom prst="roundRect">
            <a:avLst>
              <a:gd name="adj" fmla="val 8000"/>
            </a:avLst>
          </a:prstGeom>
          <a:solidFill>
            <a:srgbClr val="DCFCE7"/>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4532D"/>
                </a:solidFill>
                <a:latin typeface="Calibri"/>
              </a:rPr>
              <a:t>MCP server</a:t>
            </a:r>
          </a:p>
          <a:p>
            <a:pPr algn="ctr"/>
            <a:r>
              <a:rPr b="0" sz="1300">
                <a:solidFill>
                  <a:srgbClr val="14532D"/>
                </a:solidFill>
                <a:latin typeface="Calibri"/>
              </a:rPr>
              <a:t>holds NO Salesforce credential</a:t>
            </a:r>
          </a:p>
          <a:p>
            <a:pPr algn="ctr"/>
            <a:r>
              <a:rPr b="0" sz="1300">
                <a:solidFill>
                  <a:srgbClr val="14532D"/>
                </a:solidFill>
                <a:latin typeface="Calibri"/>
              </a:rPr>
              <a:t>identity per chat session</a:t>
            </a:r>
          </a:p>
        </p:txBody>
      </p:sp>
      <p:sp>
        <p:nvSpPr>
          <p:cNvPr id="11" name="Rounded Rectangle 10"/>
          <p:cNvSpPr/>
          <p:nvPr/>
        </p:nvSpPr>
        <p:spPr>
          <a:xfrm>
            <a:off x="7589520" y="2651760"/>
            <a:ext cx="2743200" cy="1371600"/>
          </a:xfrm>
          <a:prstGeom prst="roundRect">
            <a:avLst>
              <a:gd name="adj" fmla="val 8000"/>
            </a:avLst>
          </a:prstGeom>
          <a:solidFill>
            <a:srgbClr val="FFF8E8"/>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A1A2E"/>
                </a:solidFill>
                <a:latin typeface="Calibri"/>
              </a:rPr>
              <a:t>Identity layer (BFF)</a:t>
            </a:r>
          </a:p>
          <a:p>
            <a:pPr algn="ctr"/>
            <a:r>
              <a:rPr b="0" sz="1300">
                <a:solidFill>
                  <a:srgbClr val="1A1A2E"/>
                </a:solidFill>
                <a:latin typeface="Calibri"/>
              </a:rPr>
              <a:t>holds the token</a:t>
            </a:r>
          </a:p>
          <a:p>
            <a:pPr algn="ctr"/>
            <a:r>
              <a:rPr b="0" sz="1300">
                <a:solidFill>
                  <a:srgbClr val="1A1A2E"/>
                </a:solidFill>
                <a:latin typeface="Calibri"/>
              </a:rPr>
              <a:t>browser never sees it</a:t>
            </a:r>
          </a:p>
        </p:txBody>
      </p:sp>
      <p:sp>
        <p:nvSpPr>
          <p:cNvPr id="12" name="Rounded Rectangle 11"/>
          <p:cNvSpPr/>
          <p:nvPr/>
        </p:nvSpPr>
        <p:spPr>
          <a:xfrm>
            <a:off x="3931920" y="4846320"/>
            <a:ext cx="6400800" cy="1188720"/>
          </a:xfrm>
          <a:prstGeom prst="roundRect">
            <a:avLst>
              <a:gd name="adj" fmla="val 8000"/>
            </a:avLst>
          </a:prstGeom>
          <a:solidFill>
            <a:srgbClr val="E7E5E4"/>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A1A2E"/>
                </a:solidFill>
                <a:latin typeface="Calibri"/>
              </a:rPr>
              <a:t>Salesforce</a:t>
            </a:r>
          </a:p>
          <a:p>
            <a:pPr algn="ctr"/>
            <a:r>
              <a:rPr b="0" sz="1300">
                <a:solidFill>
                  <a:srgbClr val="1A1A2E"/>
                </a:solidFill>
                <a:latin typeface="Calibri"/>
              </a:rPr>
              <a:t>Apex reads the Contact off the token · OWD Private + Sharing Set decide visibility · every write "as user", with channel</a:t>
            </a:r>
          </a:p>
        </p:txBody>
      </p:sp>
      <p:cxnSp>
        <p:nvCxnSpPr>
          <p:cNvPr id="13" name="Connector 12"/>
          <p:cNvCxnSpPr/>
          <p:nvPr/>
        </p:nvCxnSpPr>
        <p:spPr>
          <a:xfrm>
            <a:off x="3017520" y="2446020"/>
            <a:ext cx="914400" cy="89154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17520" y="3314700"/>
            <a:ext cx="914400" cy="2286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017520" y="3337560"/>
            <a:ext cx="914400" cy="84582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3337560"/>
            <a:ext cx="731520" cy="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961120" y="4023360"/>
            <a:ext cx="0" cy="822960"/>
          </a:xfrm>
          <a:prstGeom prst="line">
            <a:avLst/>
          </a:prstGeom>
          <a:ln w="19050">
            <a:solidFill>
              <a:srgbClr val="78716C"/>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31920" y="4114800"/>
            <a:ext cx="2926080" cy="365760"/>
          </a:xfrm>
          <a:prstGeom prst="rect">
            <a:avLst/>
          </a:prstGeom>
          <a:noFill/>
        </p:spPr>
        <p:txBody>
          <a:bodyPr wrap="square" anchor="t" lIns="45720" rIns="45720">
            <a:spAutoFit/>
          </a:bodyPr>
          <a:lstStyle/>
          <a:p>
            <a:pPr algn="l"/>
            <a:r>
              <a:rPr b="0" sz="1100">
                <a:solidFill>
                  <a:srgbClr val="78716C"/>
                </a:solidFill>
                <a:latin typeface="Calibri"/>
              </a:rPr>
              <a:t>tool calls + widget · X-HXL-Channel</a:t>
            </a:r>
          </a:p>
        </p:txBody>
      </p:sp>
      <p:sp>
        <p:nvSpPr>
          <p:cNvPr id="19" name="TextBox 18"/>
          <p:cNvSpPr txBox="1"/>
          <p:nvPr/>
        </p:nvSpPr>
        <p:spPr>
          <a:xfrm>
            <a:off x="7589520" y="4114800"/>
            <a:ext cx="2743200" cy="365760"/>
          </a:xfrm>
          <a:prstGeom prst="rect">
            <a:avLst/>
          </a:prstGeom>
          <a:noFill/>
        </p:spPr>
        <p:txBody>
          <a:bodyPr wrap="square" anchor="t" lIns="45720" rIns="45720">
            <a:spAutoFit/>
          </a:bodyPr>
          <a:lstStyle/>
          <a:p>
            <a:pPr algn="l"/>
            <a:r>
              <a:rPr b="0" sz="1100">
                <a:solidFill>
                  <a:srgbClr val="78716C"/>
                </a:solidFill>
                <a:latin typeface="Calibri"/>
              </a:rPr>
              <a:t>Bearer, named customer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5</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What is proven</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Each line verified against the live org through the running software</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965960"/>
          <a:ext cx="10972800" cy="4023360"/>
        </p:xfrm>
        <a:graphic>
          <a:graphicData uri="http://schemas.openxmlformats.org/drawingml/2006/table">
            <a:tbl>
              <a:tblPr firstRow="1" bandRow="1">
                <a:tableStyleId>{5C22544A-7EE6-4342-B048-85BDC9FD1C3A}</a:tableStyleId>
              </a:tblPr>
              <a:tblGrid>
                <a:gridCol w="3291840"/>
                <a:gridCol w="7680960"/>
              </a:tblGrid>
              <a:tr h="365760">
                <a:tc>
                  <a:txBody>
                    <a:bodyPr/>
                    <a:lstStyle/>
                    <a:p>
                      <a:r>
                        <a:rPr b="1" sz="1100">
                          <a:solidFill>
                            <a:srgbClr val="1A1A2E"/>
                          </a:solidFill>
                          <a:latin typeface="Calibri"/>
                        </a:rPr>
                        <a:t>Claim</a:t>
                      </a:r>
                    </a:p>
                  </a:txBody>
                  <a:tcPr marL="73152" marR="73152" marT="36576" marB="36576">
                    <a:solidFill>
                      <a:srgbClr val="E8E4DC"/>
                    </a:solidFill>
                  </a:tcPr>
                </a:tc>
                <a:tc>
                  <a:txBody>
                    <a:bodyPr/>
                    <a:lstStyle/>
                    <a:p>
                      <a:r>
                        <a:rPr b="1" sz="1100">
                          <a:solidFill>
                            <a:srgbClr val="1A1A2E"/>
                          </a:solidFill>
                          <a:latin typeface="Calibri"/>
                        </a:rPr>
                        <a:t>Evidence</a:t>
                      </a:r>
                    </a:p>
                  </a:txBody>
                  <a:tcPr marL="73152" marR="73152" marT="36576" marB="36576">
                    <a:solidFill>
                      <a:srgbClr val="E8E4DC"/>
                    </a:solidFill>
                  </a:tcPr>
                </a:tc>
              </a:tr>
              <a:tr h="365760">
                <a:tc>
                  <a:txBody>
                    <a:bodyPr/>
                    <a:lstStyle/>
                    <a:p>
                      <a:r>
                        <a:rPr b="0" sz="1100">
                          <a:solidFill>
                            <a:srgbClr val="1A1A2E"/>
                          </a:solidFill>
                          <a:latin typeface="Calibri"/>
                        </a:rPr>
                        <a:t>Headless login, no Salesforce page</a:t>
                      </a:r>
                    </a:p>
                  </a:txBody>
                  <a:tcPr marL="73152" marR="73152" marT="36576" marB="36576">
                    <a:solidFill>
                      <a:srgbClr val="FFFDF8"/>
                    </a:solidFill>
                  </a:tcPr>
                </a:tc>
                <a:tc>
                  <a:txBody>
                    <a:bodyPr/>
                    <a:lstStyle/>
                    <a:p>
                      <a:r>
                        <a:rPr b="0" sz="1100">
                          <a:solidFill>
                            <a:srgbClr val="1A1A2E"/>
                          </a:solidFill>
                          <a:latin typeface="Calibri"/>
                        </a:rPr>
                        <a:t>PKCE code exchange; the browser never leaves localhost</a:t>
                      </a:r>
                    </a:p>
                  </a:txBody>
                  <a:tcPr marL="73152" marR="73152" marT="36576" marB="36576">
                    <a:solidFill>
                      <a:srgbClr val="FFFDF8"/>
                    </a:solidFill>
                  </a:tcPr>
                </a:tc>
              </a:tr>
              <a:tr h="365760">
                <a:tc>
                  <a:txBody>
                    <a:bodyPr/>
                    <a:lstStyle/>
                    <a:p>
                      <a:r>
                        <a:rPr b="0" sz="1100">
                          <a:solidFill>
                            <a:srgbClr val="1A1A2E"/>
                          </a:solidFill>
                          <a:latin typeface="Calibri"/>
                        </a:rPr>
                        <a:t>Identity is a real person</a:t>
                      </a:r>
                    </a:p>
                  </a:txBody>
                  <a:tcPr marL="73152" marR="73152" marT="36576" marB="36576">
                    <a:solidFill>
                      <a:srgbClr val="F7F4EE"/>
                    </a:solidFill>
                  </a:tcPr>
                </a:tc>
                <a:tc>
                  <a:txBody>
                    <a:bodyPr/>
                    <a:lstStyle/>
                    <a:p>
                      <a:r>
                        <a:rPr b="0" sz="1100">
                          <a:solidFill>
                            <a:srgbClr val="1A1A2E"/>
                          </a:solidFill>
                          <a:latin typeface="Calibri"/>
                        </a:rPr>
                        <a:t>Apex reads Contact </a:t>
                      </a:r>
                      <a:r>
                        <a:rPr sz="1000">
                          <a:solidFill>
                            <a:srgbClr val="1A1A2E"/>
                          </a:solidFill>
                          <a:latin typeface="Consolas"/>
                        </a:rPr>
                        <a:t>003g800000fQI05AAG</a:t>
                      </a:r>
                      <a:r>
                        <a:rPr b="0" sz="1100">
                          <a:solidFill>
                            <a:srgbClr val="1A1A2E"/>
                          </a:solidFill>
                          <a:latin typeface="Calibri"/>
                        </a:rPr>
                        <a:t> off the token; no user id accepted from the caller</a:t>
                      </a:r>
                    </a:p>
                  </a:txBody>
                  <a:tcPr marL="73152" marR="73152" marT="36576" marB="36576">
                    <a:solidFill>
                      <a:srgbClr val="F7F4EE"/>
                    </a:solidFill>
                  </a:tcPr>
                </a:tc>
              </a:tr>
              <a:tr h="365760">
                <a:tc>
                  <a:txBody>
                    <a:bodyPr/>
                    <a:lstStyle/>
                    <a:p>
                      <a:r>
                        <a:rPr b="0" sz="1100">
                          <a:solidFill>
                            <a:srgbClr val="1A1A2E"/>
                          </a:solidFill>
                          <a:latin typeface="Calibri"/>
                        </a:rPr>
                        <a:t>Token custody in the layer</a:t>
                      </a:r>
                    </a:p>
                  </a:txBody>
                  <a:tcPr marL="73152" marR="73152" marT="36576" marB="36576">
                    <a:solidFill>
                      <a:srgbClr val="FFFDF8"/>
                    </a:solidFill>
                  </a:tcPr>
                </a:tc>
                <a:tc>
                  <a:txBody>
                    <a:bodyPr/>
                    <a:lstStyle/>
                    <a:p>
                      <a:r>
                        <a:rPr b="0" sz="1100">
                          <a:solidFill>
                            <a:srgbClr val="1A1A2E"/>
                          </a:solidFill>
                          <a:latin typeface="Calibri"/>
                        </a:rPr>
                        <a:t>Browser holds one HttpOnly cookie; </a:t>
                      </a:r>
                      <a:r>
                        <a:rPr sz="1000">
                          <a:solidFill>
                            <a:srgbClr val="1A1A2E"/>
                          </a:solidFill>
                          <a:latin typeface="Consolas"/>
                        </a:rPr>
                        <a:t>document.cookie</a:t>
                      </a:r>
                      <a:r>
                        <a:rPr b="0" sz="1100">
                          <a:solidFill>
                            <a:srgbClr val="1A1A2E"/>
                          </a:solidFill>
                          <a:latin typeface="Calibri"/>
                        </a:rPr>
                        <a:t> shows nothing useful</a:t>
                      </a:r>
                    </a:p>
                  </a:txBody>
                  <a:tcPr marL="73152" marR="73152" marT="36576" marB="36576">
                    <a:solidFill>
                      <a:srgbClr val="FFFDF8"/>
                    </a:solidFill>
                  </a:tcPr>
                </a:tc>
              </a:tr>
              <a:tr h="365760">
                <a:tc>
                  <a:txBody>
                    <a:bodyPr/>
                    <a:lstStyle/>
                    <a:p>
                      <a:r>
                        <a:rPr b="1" sz="1100">
                          <a:solidFill>
                            <a:srgbClr val="1A1A2E"/>
                          </a:solidFill>
                          <a:latin typeface="Calibri"/>
                        </a:rPr>
                        <a:t>Sharing enforced, not filtered</a:t>
                      </a:r>
                    </a:p>
                  </a:txBody>
                  <a:tcPr marL="73152" marR="73152" marT="36576" marB="36576">
                    <a:solidFill>
                      <a:srgbClr val="F7F4EE"/>
                    </a:solidFill>
                  </a:tcPr>
                </a:tc>
                <a:tc>
                  <a:txBody>
                    <a:bodyPr/>
                    <a:lstStyle/>
                    <a:p>
                      <a:r>
                        <a:rPr b="0" sz="1100">
                          <a:solidFill>
                            <a:srgbClr val="1A1A2E"/>
                          </a:solidFill>
                          <a:latin typeface="Calibri"/>
                        </a:rPr>
                        <a:t>Grace Hopper's $9,999 order by record Id, no filter in the chain → 404 from the platform</a:t>
                      </a:r>
                    </a:p>
                  </a:txBody>
                  <a:tcPr marL="73152" marR="73152" marT="36576" marB="36576">
                    <a:solidFill>
                      <a:srgbClr val="F7F4EE"/>
                    </a:solidFill>
                  </a:tcPr>
                </a:tc>
              </a:tr>
              <a:tr h="365760">
                <a:tc>
                  <a:txBody>
                    <a:bodyPr/>
                    <a:lstStyle/>
                    <a:p>
                      <a:r>
                        <a:rPr b="1" sz="1100">
                          <a:solidFill>
                            <a:srgbClr val="1A1A2E"/>
                          </a:solidFill>
                          <a:latin typeface="Calibri"/>
                        </a:rPr>
                        <a:t>Prompt injection contained</a:t>
                      </a:r>
                    </a:p>
                  </a:txBody>
                  <a:tcPr marL="73152" marR="73152" marT="36576" marB="36576">
                    <a:solidFill>
                      <a:srgbClr val="FFFDF8"/>
                    </a:solidFill>
                  </a:tcPr>
                </a:tc>
                <a:tc>
                  <a:txBody>
                    <a:bodyPr/>
                    <a:lstStyle/>
                    <a:p>
                      <a:r>
                        <a:rPr b="0" sz="1100">
                          <a:solidFill>
                            <a:srgbClr val="1A1A2E"/>
                          </a:solidFill>
                          <a:latin typeface="Calibri"/>
                        </a:rPr>
                        <a:t>"List every customer's orders" → unfiltered search → 16 orders, all Ada's</a:t>
                      </a:r>
                    </a:p>
                  </a:txBody>
                  <a:tcPr marL="73152" marR="73152" marT="36576" marB="36576">
                    <a:solidFill>
                      <a:srgbClr val="FFFDF8"/>
                    </a:solidFill>
                  </a:tcPr>
                </a:tc>
              </a:tr>
              <a:tr h="365760">
                <a:tc>
                  <a:txBody>
                    <a:bodyPr/>
                    <a:lstStyle/>
                    <a:p>
                      <a:r>
                        <a:rPr b="1" sz="1100">
                          <a:solidFill>
                            <a:srgbClr val="1A1A2E"/>
                          </a:solidFill>
                          <a:latin typeface="Calibri"/>
                        </a:rPr>
                        <a:t>Update under sharing</a:t>
                      </a:r>
                    </a:p>
                  </a:txBody>
                  <a:tcPr marL="73152" marR="73152" marT="36576" marB="36576">
                    <a:solidFill>
                      <a:srgbClr val="F7F4EE"/>
                    </a:solidFill>
                  </a:tcPr>
                </a:tc>
                <a:tc>
                  <a:txBody>
                    <a:bodyPr/>
                    <a:lstStyle/>
                    <a:p>
                      <a:r>
                        <a:rPr b="0" sz="1100">
                          <a:solidFill>
                            <a:srgbClr val="1A1A2E"/>
                          </a:solidFill>
                          <a:latin typeface="Calibri"/>
                        </a:rPr>
                        <a:t>Cancel from the card flips a real record; Shipped refused by rule; others' orders invisible</a:t>
                      </a:r>
                    </a:p>
                  </a:txBody>
                  <a:tcPr marL="73152" marR="73152" marT="36576" marB="36576">
                    <a:solidFill>
                      <a:srgbClr val="F7F4EE"/>
                    </a:solidFill>
                  </a:tcPr>
                </a:tc>
              </a:tr>
              <a:tr h="365760">
                <a:tc>
                  <a:txBody>
                    <a:bodyPr/>
                    <a:lstStyle/>
                    <a:p>
                      <a:r>
                        <a:rPr b="0" sz="1100">
                          <a:solidFill>
                            <a:srgbClr val="1A1A2E"/>
                          </a:solidFill>
                          <a:latin typeface="Calibri"/>
                        </a:rPr>
                        <a:t>Per-session identity on agent surfaces</a:t>
                      </a:r>
                    </a:p>
                  </a:txBody>
                  <a:tcPr marL="73152" marR="73152" marT="36576" marB="36576">
                    <a:solidFill>
                      <a:srgbClr val="FFFDF8"/>
                    </a:solidFill>
                  </a:tcPr>
                </a:tc>
                <a:tc>
                  <a:txBody>
                    <a:bodyPr/>
                    <a:lstStyle/>
                    <a:p>
                      <a:r>
                        <a:rPr b="0" sz="1100">
                          <a:solidFill>
                            <a:srgbClr val="1A1A2E"/>
                          </a:solidFill>
                          <a:latin typeface="Calibri"/>
                        </a:rPr>
                        <a:t>One server; </a:t>
                      </a:r>
                      <a:r>
                        <a:rPr sz="1000">
                          <a:solidFill>
                            <a:srgbClr val="1A1A2E"/>
                          </a:solidFill>
                          <a:latin typeface="Consolas"/>
                        </a:rPr>
                        <a:t>sign_in</a:t>
                      </a:r>
                      <a:r>
                        <a:rPr b="0" sz="1100">
                          <a:solidFill>
                            <a:srgbClr val="1A1A2E"/>
                          </a:solidFill>
                          <a:latin typeface="Calibri"/>
                        </a:rPr>
                        <a:t> per chat; </a:t>
                      </a:r>
                      <a:r>
                        <a:rPr sz="1000">
                          <a:solidFill>
                            <a:srgbClr val="1A1A2E"/>
                          </a:solidFill>
                          <a:latin typeface="Consolas"/>
                        </a:rPr>
                        <a:t>/sessions</a:t>
                      </a:r>
                      <a:r>
                        <a:rPr b="0" sz="1100">
                          <a:solidFill>
                            <a:srgbClr val="1A1A2E"/>
                          </a:solidFill>
                          <a:latin typeface="Calibri"/>
                        </a:rPr>
                        <a:t> shows who is who, no tokens</a:t>
                      </a:r>
                    </a:p>
                  </a:txBody>
                  <a:tcPr marL="73152" marR="73152" marT="36576" marB="36576">
                    <a:solidFill>
                      <a:srgbClr val="FFFDF8"/>
                    </a:solidFill>
                  </a:tcPr>
                </a:tc>
              </a:tr>
              <a:tr h="365760">
                <a:tc>
                  <a:txBody>
                    <a:bodyPr/>
                    <a:lstStyle/>
                    <a:p>
                      <a:r>
                        <a:rPr b="0" sz="1100">
                          <a:solidFill>
                            <a:srgbClr val="1A1A2E"/>
                          </a:solidFill>
                          <a:latin typeface="Calibri"/>
                        </a:rPr>
                        <a:t>Same server, three transports</a:t>
                      </a:r>
                    </a:p>
                  </a:txBody>
                  <a:tcPr marL="73152" marR="73152" marT="36576" marB="36576">
                    <a:solidFill>
                      <a:srgbClr val="F7F4EE"/>
                    </a:solidFill>
                  </a:tcPr>
                </a:tc>
                <a:tc>
                  <a:txBody>
                    <a:bodyPr/>
                    <a:lstStyle/>
                    <a:p>
                      <a:r>
                        <a:rPr b="0" sz="1100">
                          <a:solidFill>
                            <a:srgbClr val="1A1A2E"/>
                          </a:solidFill>
                          <a:latin typeface="Calibri"/>
                        </a:rPr>
                        <a:t>stdio (Claude) · HTTPS </a:t>
                      </a:r>
                      <a:r>
                        <a:rPr sz="1000">
                          <a:solidFill>
                            <a:srgbClr val="1A1A2E"/>
                          </a:solidFill>
                          <a:latin typeface="Consolas"/>
                        </a:rPr>
                        <a:t>/mcp/chatgpt</a:t>
                      </a:r>
                      <a:r>
                        <a:rPr b="0" sz="1100">
                          <a:solidFill>
                            <a:srgbClr val="1A1A2E"/>
                          </a:solidFill>
                          <a:latin typeface="Calibri"/>
                        </a:rPr>
                        <a:t> · </a:t>
                      </a:r>
                      <a:r>
                        <a:rPr sz="1000">
                          <a:solidFill>
                            <a:srgbClr val="1A1A2E"/>
                          </a:solidFill>
                          <a:latin typeface="Consolas"/>
                        </a:rPr>
                        <a:t>/mcp/slack</a:t>
                      </a:r>
                      <a:r>
                        <a:rPr b="0" sz="1100">
                          <a:solidFill>
                            <a:srgbClr val="1A1A2E"/>
                          </a:solidFill>
                          <a:latin typeface="Calibri"/>
                        </a:rPr>
                        <a:t> — verified over a public URL</a:t>
                      </a:r>
                    </a:p>
                  </a:txBody>
                  <a:tcPr marL="73152" marR="73152" marT="36576" marB="36576">
                    <a:solidFill>
                      <a:srgbClr val="F7F4EE"/>
                    </a:solidFill>
                  </a:tcPr>
                </a:tc>
              </a:tr>
              <a:tr h="365760">
                <a:tc>
                  <a:txBody>
                    <a:bodyPr/>
                    <a:lstStyle/>
                    <a:p>
                      <a:r>
                        <a:rPr b="0" sz="1100">
                          <a:solidFill>
                            <a:srgbClr val="1A1A2E"/>
                          </a:solidFill>
                          <a:latin typeface="Calibri"/>
                        </a:rPr>
                        <a:t>Write-back with audit</a:t>
                      </a:r>
                    </a:p>
                  </a:txBody>
                  <a:tcPr marL="73152" marR="73152" marT="36576" marB="36576">
                    <a:solidFill>
                      <a:srgbClr val="FFFDF8"/>
                    </a:solidFill>
                  </a:tcPr>
                </a:tc>
                <a:tc>
                  <a:txBody>
                    <a:bodyPr/>
                    <a:lstStyle/>
                    <a:p>
                      <a:r>
                        <a:rPr b="0" sz="1100">
                          <a:solidFill>
                            <a:srgbClr val="1A1A2E"/>
                          </a:solidFill>
                          <a:latin typeface="Calibri"/>
                        </a:rPr>
                        <a:t>Owner from the token, channel from the layer: </a:t>
                      </a:r>
                      <a:r>
                        <a:rPr sz="1000">
                          <a:solidFill>
                            <a:srgbClr val="1A1A2E"/>
                          </a:solidFill>
                          <a:latin typeface="Consolas"/>
                        </a:rPr>
                        <a:t>claude</a:t>
                      </a:r>
                      <a:r>
                        <a:rPr b="0" sz="1100">
                          <a:solidFill>
                            <a:srgbClr val="1A1A2E"/>
                          </a:solidFill>
                          <a:latin typeface="Calibri"/>
                        </a:rPr>
                        <a:t>, </a:t>
                      </a:r>
                      <a:r>
                        <a:rPr sz="1000">
                          <a:solidFill>
                            <a:srgbClr val="1A1A2E"/>
                          </a:solidFill>
                          <a:latin typeface="Consolas"/>
                        </a:rPr>
                        <a:t>chatgpt</a:t>
                      </a:r>
                      <a:r>
                        <a:rPr b="0" sz="1100">
                          <a:solidFill>
                            <a:srgbClr val="1A1A2E"/>
                          </a:solidFill>
                          <a:latin typeface="Calibri"/>
                        </a:rPr>
                        <a:t>, </a:t>
                      </a:r>
                      <a:r>
                        <a:rPr sz="1000">
                          <a:solidFill>
                            <a:srgbClr val="1A1A2E"/>
                          </a:solidFill>
                          <a:latin typeface="Consolas"/>
                        </a:rPr>
                        <a:t>slack</a:t>
                      </a:r>
                      <a:r>
                        <a:rPr b="0" sz="1100">
                          <a:solidFill>
                            <a:srgbClr val="1A1A2E"/>
                          </a:solidFill>
                          <a:latin typeface="Calibri"/>
                        </a:rPr>
                        <a:t> rows, one owner</a:t>
                      </a:r>
                    </a:p>
                  </a:txBody>
                  <a:tcPr marL="73152" marR="73152" marT="36576" marB="36576">
                    <a:solidFill>
                      <a:srgbClr val="FFFDF8"/>
                    </a:solidFill>
                  </a:tcPr>
                </a:tc>
              </a:tr>
              <a:tr h="365760">
                <a:tc>
                  <a:txBody>
                    <a:bodyPr/>
                    <a:lstStyle/>
                    <a:p>
                      <a:r>
                        <a:rPr b="0" sz="1100">
                          <a:solidFill>
                            <a:srgbClr val="1A1A2E"/>
                          </a:solidFill>
                          <a:latin typeface="Calibri"/>
                        </a:rPr>
                        <a:t>Widget deployed and validated</a:t>
                      </a:r>
                    </a:p>
                  </a:txBody>
                  <a:tcPr marL="73152" marR="73152" marT="36576" marB="36576">
                    <a:solidFill>
                      <a:srgbClr val="F7F4EE"/>
                    </a:solidFill>
                  </a:tcPr>
                </a:tc>
                <a:tc>
                  <a:txBody>
                    <a:bodyPr/>
                    <a:lstStyle/>
                    <a:p>
                      <a:r>
                        <a:rPr sz="1000">
                          <a:solidFill>
                            <a:srgbClr val="1A1A2E"/>
                          </a:solidFill>
                          <a:latin typeface="Consolas"/>
                        </a:rPr>
                        <a:t>UiWidgetBundle hxlOrderCard</a:t>
                      </a:r>
                      <a:r>
                        <a:rPr b="0" sz="1100">
                          <a:solidFill>
                            <a:srgbClr val="1A1A2E"/>
                          </a:solidFill>
                          <a:latin typeface="Calibri"/>
                        </a:rPr>
                        <a:t>, platform schema-checked · host render: </a:t>
                      </a:r>
                      <a:r>
                        <a:rPr b="1" sz="1100">
                          <a:solidFill>
                            <a:srgbClr val="1A1A2E"/>
                          </a:solidFill>
                          <a:latin typeface="Calibri"/>
                        </a:rPr>
                        <a:t>[fill in on the day]</a:t>
                      </a:r>
                    </a:p>
                  </a:txBody>
                  <a:tcPr marL="73152" marR="73152" marT="36576" marB="36576">
                    <a:solidFill>
                      <a:srgbClr val="F7F4EE"/>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6</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The sharing proof, in one picture</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Ada's token vs. Grace Hopper's $9,999 order</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3017520"/>
            <a:ext cx="2194560" cy="914400"/>
          </a:xfrm>
          <a:prstGeom prst="roundRect">
            <a:avLst>
              <a:gd name="adj" fmla="val 8000"/>
            </a:avLst>
          </a:prstGeom>
          <a:solidFill>
            <a:srgbClr val="DCFCE7"/>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14532D"/>
                </a:solidFill>
                <a:latin typeface="Calibri"/>
              </a:rPr>
              <a:t>Ada's token</a:t>
            </a:r>
          </a:p>
          <a:p>
            <a:pPr algn="ctr"/>
            <a:r>
              <a:rPr b="0" sz="1300">
                <a:solidFill>
                  <a:srgbClr val="14532D"/>
                </a:solidFill>
                <a:latin typeface="Calibri"/>
              </a:rPr>
              <a:t>Contact 003g…fQI05</a:t>
            </a:r>
          </a:p>
        </p:txBody>
      </p:sp>
      <p:sp>
        <p:nvSpPr>
          <p:cNvPr id="8" name="Rounded Rectangle 7"/>
          <p:cNvSpPr/>
          <p:nvPr/>
        </p:nvSpPr>
        <p:spPr>
          <a:xfrm>
            <a:off x="9326880" y="3017520"/>
            <a:ext cx="2286000" cy="914400"/>
          </a:xfrm>
          <a:prstGeom prst="roundRect">
            <a:avLst>
              <a:gd name="adj" fmla="val 8000"/>
            </a:avLst>
          </a:prstGeom>
          <a:solidFill>
            <a:srgbClr val="FEE2E2"/>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300">
                <a:solidFill>
                  <a:srgbClr val="991B1B"/>
                </a:solidFill>
                <a:latin typeface="Calibri"/>
              </a:rPr>
              <a:t>Grace's order</a:t>
            </a:r>
          </a:p>
          <a:p>
            <a:pPr algn="ctr"/>
            <a:r>
              <a:rPr b="0" sz="1300">
                <a:solidFill>
                  <a:srgbClr val="991B1B"/>
                </a:solidFill>
                <a:latin typeface="Calibri"/>
              </a:rPr>
              <a:t>ORD-00003 · $9,999</a:t>
            </a:r>
          </a:p>
        </p:txBody>
      </p:sp>
      <p:sp>
        <p:nvSpPr>
          <p:cNvPr id="9" name="TextBox 8"/>
          <p:cNvSpPr txBox="1"/>
          <p:nvPr/>
        </p:nvSpPr>
        <p:spPr>
          <a:xfrm>
            <a:off x="3108960" y="2057400"/>
            <a:ext cx="4206240" cy="457200"/>
          </a:xfrm>
          <a:prstGeom prst="rect">
            <a:avLst/>
          </a:prstGeom>
          <a:noFill/>
        </p:spPr>
        <p:txBody>
          <a:bodyPr wrap="square" anchor="t" lIns="45720" rIns="45720">
            <a:spAutoFit/>
          </a:bodyPr>
          <a:lstStyle/>
          <a:p>
            <a:pPr algn="l"/>
            <a:r>
              <a:rPr b="0" sz="1400">
                <a:solidFill>
                  <a:srgbClr val="1A1A2E"/>
                </a:solidFill>
                <a:latin typeface="Calibri"/>
              </a:rPr>
              <a:t>1  Through the app’s list</a:t>
            </a:r>
          </a:p>
        </p:txBody>
      </p:sp>
      <p:sp>
        <p:nvSpPr>
          <p:cNvPr id="10" name="Rounded Rectangle 9"/>
          <p:cNvSpPr/>
          <p:nvPr/>
        </p:nvSpPr>
        <p:spPr>
          <a:xfrm>
            <a:off x="7315200" y="2039112"/>
            <a:ext cx="1737360" cy="457200"/>
          </a:xfrm>
          <a:prstGeom prst="roundRect">
            <a:avLst>
              <a:gd name="adj" fmla="val 8000"/>
            </a:avLst>
          </a:prstGeom>
          <a:solidFill>
            <a:srgbClr val="FEE2E2"/>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200">
                <a:solidFill>
                  <a:srgbClr val="991B1B"/>
                </a:solidFill>
                <a:latin typeface="Calibri"/>
              </a:rPr>
              <a:t>absent</a:t>
            </a:r>
          </a:p>
        </p:txBody>
      </p:sp>
      <p:sp>
        <p:nvSpPr>
          <p:cNvPr id="11" name="TextBox 10"/>
          <p:cNvSpPr txBox="1"/>
          <p:nvPr/>
        </p:nvSpPr>
        <p:spPr>
          <a:xfrm>
            <a:off x="3108960" y="2880360"/>
            <a:ext cx="4206240" cy="457200"/>
          </a:xfrm>
          <a:prstGeom prst="rect">
            <a:avLst/>
          </a:prstGeom>
          <a:noFill/>
        </p:spPr>
        <p:txBody>
          <a:bodyPr wrap="square" anchor="t" lIns="45720" rIns="45720">
            <a:spAutoFit/>
          </a:bodyPr>
          <a:lstStyle/>
          <a:p>
            <a:pPr algn="l"/>
            <a:r>
              <a:rPr b="0" sz="1400">
                <a:solidFill>
                  <a:srgbClr val="1A1A2E"/>
                </a:solidFill>
                <a:latin typeface="Calibri"/>
              </a:rPr>
              <a:t>2  curl, straight at the API, by Id</a:t>
            </a:r>
          </a:p>
        </p:txBody>
      </p:sp>
      <p:sp>
        <p:nvSpPr>
          <p:cNvPr id="12" name="Rounded Rectangle 11"/>
          <p:cNvSpPr/>
          <p:nvPr/>
        </p:nvSpPr>
        <p:spPr>
          <a:xfrm>
            <a:off x="7315200" y="2862072"/>
            <a:ext cx="1737360" cy="457200"/>
          </a:xfrm>
          <a:prstGeom prst="roundRect">
            <a:avLst>
              <a:gd name="adj" fmla="val 8000"/>
            </a:avLst>
          </a:prstGeom>
          <a:solidFill>
            <a:srgbClr val="FEE2E2"/>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200">
                <a:solidFill>
                  <a:srgbClr val="991B1B"/>
                </a:solidFill>
                <a:latin typeface="Calibri"/>
              </a:rPr>
              <a:t>404</a:t>
            </a:r>
          </a:p>
        </p:txBody>
      </p:sp>
      <p:sp>
        <p:nvSpPr>
          <p:cNvPr id="13" name="TextBox 12"/>
          <p:cNvSpPr txBox="1"/>
          <p:nvPr/>
        </p:nvSpPr>
        <p:spPr>
          <a:xfrm>
            <a:off x="3108960" y="3703320"/>
            <a:ext cx="4206240" cy="457200"/>
          </a:xfrm>
          <a:prstGeom prst="rect">
            <a:avLst/>
          </a:prstGeom>
          <a:noFill/>
        </p:spPr>
        <p:txBody>
          <a:bodyPr wrap="square" anchor="t" lIns="45720" rIns="45720">
            <a:spAutoFit/>
          </a:bodyPr>
          <a:lstStyle/>
          <a:p>
            <a:pPr algn="l"/>
            <a:r>
              <a:rPr b="0" sz="1400">
                <a:solidFill>
                  <a:srgbClr val="1A1A2E"/>
                </a:solidFill>
                <a:latin typeface="Calibri"/>
              </a:rPr>
              <a:t>3  In a chat: "show me order ORD-00003"</a:t>
            </a:r>
          </a:p>
        </p:txBody>
      </p:sp>
      <p:sp>
        <p:nvSpPr>
          <p:cNvPr id="14" name="Rounded Rectangle 13"/>
          <p:cNvSpPr/>
          <p:nvPr/>
        </p:nvSpPr>
        <p:spPr>
          <a:xfrm>
            <a:off x="7315200" y="3685032"/>
            <a:ext cx="1737360" cy="457200"/>
          </a:xfrm>
          <a:prstGeom prst="roundRect">
            <a:avLst>
              <a:gd name="adj" fmla="val 8000"/>
            </a:avLst>
          </a:prstGeom>
          <a:solidFill>
            <a:srgbClr val="FEE2E2"/>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200">
                <a:solidFill>
                  <a:srgbClr val="991B1B"/>
                </a:solidFill>
                <a:latin typeface="Calibri"/>
              </a:rPr>
              <a:t>not found</a:t>
            </a:r>
          </a:p>
        </p:txBody>
      </p:sp>
      <p:sp>
        <p:nvSpPr>
          <p:cNvPr id="15" name="TextBox 14"/>
          <p:cNvSpPr txBox="1"/>
          <p:nvPr/>
        </p:nvSpPr>
        <p:spPr>
          <a:xfrm>
            <a:off x="3108960" y="4526280"/>
            <a:ext cx="4206240" cy="457200"/>
          </a:xfrm>
          <a:prstGeom prst="rect">
            <a:avLst/>
          </a:prstGeom>
          <a:noFill/>
        </p:spPr>
        <p:txBody>
          <a:bodyPr wrap="square" anchor="t" lIns="45720" rIns="45720">
            <a:spAutoFit/>
          </a:bodyPr>
          <a:lstStyle/>
          <a:p>
            <a:pPr algn="l"/>
            <a:r>
              <a:rPr b="0" sz="1400">
                <a:solidFill>
                  <a:srgbClr val="1A1A2E"/>
                </a:solidFill>
                <a:latin typeface="Calibri"/>
              </a:rPr>
              <a:t>4  Prompt-injected: "list every customer’s orders"</a:t>
            </a:r>
          </a:p>
        </p:txBody>
      </p:sp>
      <p:sp>
        <p:nvSpPr>
          <p:cNvPr id="16" name="Rounded Rectangle 15"/>
          <p:cNvSpPr/>
          <p:nvPr/>
        </p:nvSpPr>
        <p:spPr>
          <a:xfrm>
            <a:off x="7315200" y="4507992"/>
            <a:ext cx="1737360" cy="457200"/>
          </a:xfrm>
          <a:prstGeom prst="roundRect">
            <a:avLst>
              <a:gd name="adj" fmla="val 8000"/>
            </a:avLst>
          </a:prstGeom>
          <a:solidFill>
            <a:srgbClr val="DCFCE7"/>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200">
                <a:solidFill>
                  <a:srgbClr val="14532D"/>
                </a:solidFill>
                <a:latin typeface="Calibri"/>
              </a:rPr>
              <a:t>16 orders — all Ada’s</a:t>
            </a:r>
          </a:p>
        </p:txBody>
      </p:sp>
      <p:sp>
        <p:nvSpPr>
          <p:cNvPr id="17" name="Rounded Rectangle 16"/>
          <p:cNvSpPr/>
          <p:nvPr/>
        </p:nvSpPr>
        <p:spPr>
          <a:xfrm>
            <a:off x="640080" y="5486400"/>
            <a:ext cx="10972800" cy="640080"/>
          </a:xfrm>
          <a:prstGeom prst="roundRect">
            <a:avLst>
              <a:gd name="adj" fmla="val 8000"/>
            </a:avLst>
          </a:prstGeom>
          <a:solidFill>
            <a:srgbClr val="FFF8E8"/>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500">
                <a:solidFill>
                  <a:srgbClr val="1A1A2E"/>
                </a:solidFill>
                <a:latin typeface="Calibri"/>
              </a:rPr>
              <a:t>Four ways of asking, one answer. None of the refusals is in code we wrote.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7</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The finding that made the last slide honest</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For a week, slide 6 was false — and nothing in the demo would have shown it</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03120"/>
            <a:ext cx="10972800" cy="3200400"/>
          </a:xfrm>
          <a:prstGeom prst="rect">
            <a:avLst/>
          </a:prstGeom>
          <a:noFill/>
        </p:spPr>
        <p:txBody>
          <a:bodyPr wrap="square">
            <a:spAutoFit/>
          </a:bodyPr>
          <a:lstStyle/>
          <a:p>
            <a:pPr>
              <a:spcAft>
                <a:spcPts val="1000"/>
              </a:spcAft>
            </a:pPr>
            <a:r>
              <a:rPr b="0" sz="1700">
                <a:solidFill>
                  <a:srgbClr val="1A1A2E"/>
                </a:solidFill>
                <a:latin typeface="Calibri"/>
              </a:rPr>
              <a:t>•  The customer profile had </a:t>
            </a:r>
            <a:r>
              <a:rPr b="1" sz="1700">
                <a:solidFill>
                  <a:srgbClr val="1A1A2E"/>
                </a:solidFill>
                <a:latin typeface="Calibri"/>
              </a:rPr>
              <a:t>View All Records</a:t>
            </a:r>
            <a:r>
              <a:rPr b="0" sz="1700">
                <a:solidFill>
                  <a:srgbClr val="1A1A2E"/>
                </a:solidFill>
                <a:latin typeface="Calibri"/>
              </a:rPr>
              <a:t> on the order object. View All bypasses sharing entirely.</a:t>
            </a:r>
          </a:p>
          <a:p>
            <a:pPr>
              <a:spcAft>
                <a:spcPts val="1000"/>
              </a:spcAft>
            </a:pPr>
            <a:r>
              <a:rPr b="0" sz="1700">
                <a:solidFill>
                  <a:srgbClr val="1A1A2E"/>
                </a:solidFill>
                <a:latin typeface="Calibri"/>
              </a:rPr>
              <a:t>•  Every earlier "proof" filtered the query by Contact. It looked like sharing. It was a WHERE clause.</a:t>
            </a:r>
          </a:p>
          <a:p>
            <a:pPr>
              <a:spcAft>
                <a:spcPts val="1000"/>
              </a:spcAft>
            </a:pPr>
            <a:r>
              <a:rPr b="0" sz="1700">
                <a:solidFill>
                  <a:srgbClr val="1A1A2E"/>
                </a:solidFill>
                <a:latin typeface="Calibri"/>
              </a:rPr>
              <a:t>•  Found the moment a tool asked for a record </a:t>
            </a:r>
            <a:r>
              <a:rPr b="1" sz="1700">
                <a:solidFill>
                  <a:srgbClr val="1A1A2E"/>
                </a:solidFill>
                <a:latin typeface="Calibri"/>
              </a:rPr>
              <a:t>by Id with no filter</a:t>
            </a:r>
            <a:r>
              <a:rPr b="0" sz="1700">
                <a:solidFill>
                  <a:srgbClr val="1A1A2E"/>
                </a:solidFill>
                <a:latin typeface="Calibri"/>
              </a:rPr>
              <a:t> — Ada got Grace’s $9,999 order back.</a:t>
            </a:r>
          </a:p>
          <a:p>
            <a:pPr>
              <a:spcAft>
                <a:spcPts val="1000"/>
              </a:spcAft>
            </a:pPr>
            <a:r>
              <a:rPr b="0" sz="1700">
                <a:solidFill>
                  <a:srgbClr val="1A1A2E"/>
                </a:solidFill>
                <a:latin typeface="Calibri"/>
              </a:rPr>
              <a:t>•  Fixed with the platform’s own mechanism: a </a:t>
            </a:r>
            <a:r>
              <a:rPr b="1" sz="1700">
                <a:solidFill>
                  <a:srgbClr val="1A1A2E"/>
                </a:solidFill>
                <a:latin typeface="Calibri"/>
              </a:rPr>
              <a:t>Sharing Set</a:t>
            </a:r>
            <a:r>
              <a:rPr b="0" sz="1700">
                <a:solidFill>
                  <a:srgbClr val="1A1A2E"/>
                </a:solidFill>
                <a:latin typeface="Calibri"/>
              </a:rPr>
              <a:t> (customer → orders linked to their Contact) and View All off. In source, deployed, re-verified from the agent surface.</a:t>
            </a:r>
          </a:p>
        </p:txBody>
      </p:sp>
      <p:sp>
        <p:nvSpPr>
          <p:cNvPr id="8" name="Rounded Rectangle 7"/>
          <p:cNvSpPr/>
          <p:nvPr/>
        </p:nvSpPr>
        <p:spPr>
          <a:xfrm>
            <a:off x="640080" y="5212080"/>
            <a:ext cx="10972800" cy="822960"/>
          </a:xfrm>
          <a:prstGeom prst="roundRect">
            <a:avLst>
              <a:gd name="adj" fmla="val 8000"/>
            </a:avLst>
          </a:prstGeom>
          <a:solidFill>
            <a:srgbClr val="FFF8E8"/>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600">
                <a:solidFill>
                  <a:srgbClr val="1A1A2E"/>
                </a:solidFill>
                <a:latin typeface="Calibri"/>
              </a:rPr>
              <a:t>Lesson: a sharing claim is only real if something in the demo asks without filtering and is refused.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8</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One widget, many hosts</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Same server code for the first three. The only difference is the pipe.</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2011680"/>
          <a:ext cx="10972800" cy="3291839"/>
        </p:xfrm>
        <a:graphic>
          <a:graphicData uri="http://schemas.openxmlformats.org/drawingml/2006/table">
            <a:tbl>
              <a:tblPr firstRow="1" bandRow="1">
                <a:tableStyleId>{5C22544A-7EE6-4342-B048-85BDC9FD1C3A}</a:tableStyleId>
              </a:tblPr>
              <a:tblGrid>
                <a:gridCol w="2011680"/>
                <a:gridCol w="5760720"/>
                <a:gridCol w="3200400"/>
              </a:tblGrid>
              <a:tr h="548639">
                <a:tc>
                  <a:txBody>
                    <a:bodyPr/>
                    <a:lstStyle/>
                    <a:p>
                      <a:r>
                        <a:rPr b="1" sz="1300">
                          <a:solidFill>
                            <a:srgbClr val="1A1A2E"/>
                          </a:solidFill>
                          <a:latin typeface="Calibri"/>
                        </a:rPr>
                        <a:t>Host</a:t>
                      </a:r>
                    </a:p>
                  </a:txBody>
                  <a:tcPr marL="73152" marR="73152" marT="36576" marB="36576">
                    <a:solidFill>
                      <a:srgbClr val="E8E4DC"/>
                    </a:solidFill>
                  </a:tcPr>
                </a:tc>
                <a:tc>
                  <a:txBody>
                    <a:bodyPr/>
                    <a:lstStyle/>
                    <a:p>
                      <a:r>
                        <a:rPr b="1" sz="1300">
                          <a:solidFill>
                            <a:srgbClr val="1A1A2E"/>
                          </a:solidFill>
                          <a:latin typeface="Calibri"/>
                        </a:rPr>
                        <a:t>Route</a:t>
                      </a:r>
                    </a:p>
                  </a:txBody>
                  <a:tcPr marL="73152" marR="73152" marT="36576" marB="36576">
                    <a:solidFill>
                      <a:srgbClr val="E8E4DC"/>
                    </a:solidFill>
                  </a:tcPr>
                </a:tc>
                <a:tc>
                  <a:txBody>
                    <a:bodyPr/>
                    <a:lstStyle/>
                    <a:p>
                      <a:r>
                        <a:rPr b="1" sz="1300">
                          <a:solidFill>
                            <a:srgbClr val="1A1A2E"/>
                          </a:solidFill>
                          <a:latin typeface="Calibri"/>
                        </a:rPr>
                        <a:t>Status today</a:t>
                      </a:r>
                    </a:p>
                  </a:txBody>
                  <a:tcPr marL="73152" marR="73152" marT="36576" marB="36576">
                    <a:solidFill>
                      <a:srgbClr val="E8E4DC"/>
                    </a:solidFill>
                  </a:tcPr>
                </a:tc>
              </a:tr>
              <a:tr h="548639">
                <a:tc>
                  <a:txBody>
                    <a:bodyPr/>
                    <a:lstStyle/>
                    <a:p>
                      <a:r>
                        <a:rPr b="0" sz="1300">
                          <a:solidFill>
                            <a:srgbClr val="1A1A2E"/>
                          </a:solidFill>
                          <a:latin typeface="Calibri"/>
                        </a:rPr>
                        <a:t>Claude Desktop</a:t>
                      </a:r>
                    </a:p>
                  </a:txBody>
                  <a:tcPr marL="73152" marR="73152" marT="36576" marB="36576">
                    <a:solidFill>
                      <a:srgbClr val="FFFDF8"/>
                    </a:solidFill>
                  </a:tcPr>
                </a:tc>
                <a:tc>
                  <a:txBody>
                    <a:bodyPr/>
                    <a:lstStyle/>
                    <a:p>
                      <a:r>
                        <a:rPr b="0" sz="1300">
                          <a:solidFill>
                            <a:srgbClr val="1A1A2E"/>
                          </a:solidFill>
                          <a:latin typeface="Calibri"/>
                        </a:rPr>
                        <a:t>stdio, local process</a:t>
                      </a:r>
                    </a:p>
                  </a:txBody>
                  <a:tcPr marL="73152" marR="73152" marT="36576" marB="36576">
                    <a:solidFill>
                      <a:srgbClr val="FFFDF8"/>
                    </a:solidFill>
                  </a:tcPr>
                </a:tc>
                <a:tc>
                  <a:txBody>
                    <a:bodyPr/>
                    <a:lstStyle/>
                    <a:p>
                      <a:r>
                        <a:rPr b="1" sz="1300">
                          <a:solidFill>
                            <a:srgbClr val="1A1A2E"/>
                          </a:solidFill>
                          <a:latin typeface="Calibri"/>
                        </a:rPr>
                        <a:t>[render ✔ / procedure ready]</a:t>
                      </a:r>
                    </a:p>
                  </a:txBody>
                  <a:tcPr marL="73152" marR="73152" marT="36576" marB="36576">
                    <a:solidFill>
                      <a:srgbClr val="FFFDF8"/>
                    </a:solidFill>
                  </a:tcPr>
                </a:tc>
              </a:tr>
              <a:tr h="548639">
                <a:tc>
                  <a:txBody>
                    <a:bodyPr/>
                    <a:lstStyle/>
                    <a:p>
                      <a:r>
                        <a:rPr b="0" sz="1300">
                          <a:solidFill>
                            <a:srgbClr val="1A1A2E"/>
                          </a:solidFill>
                          <a:latin typeface="Calibri"/>
                        </a:rPr>
                        <a:t>ChatGPT</a:t>
                      </a:r>
                    </a:p>
                  </a:txBody>
                  <a:tcPr marL="73152" marR="73152" marT="36576" marB="36576">
                    <a:solidFill>
                      <a:srgbClr val="F7F4EE"/>
                    </a:solidFill>
                  </a:tcPr>
                </a:tc>
                <a:tc>
                  <a:txBody>
                    <a:bodyPr/>
                    <a:lstStyle/>
                    <a:p>
                      <a:r>
                        <a:rPr b="0" sz="1300">
                          <a:solidFill>
                            <a:srgbClr val="1A1A2E"/>
                          </a:solidFill>
                          <a:latin typeface="Calibri"/>
                        </a:rPr>
                        <a:t>HTTPS via tunnel · Developer Mode connector</a:t>
                      </a:r>
                    </a:p>
                  </a:txBody>
                  <a:tcPr marL="73152" marR="73152" marT="36576" marB="36576">
                    <a:solidFill>
                      <a:srgbClr val="F7F4EE"/>
                    </a:solidFill>
                  </a:tcPr>
                </a:tc>
                <a:tc>
                  <a:txBody>
                    <a:bodyPr/>
                    <a:lstStyle/>
                    <a:p>
                      <a:r>
                        <a:rPr b="1" sz="1300">
                          <a:solidFill>
                            <a:srgbClr val="1A1A2E"/>
                          </a:solidFill>
                          <a:latin typeface="Calibri"/>
                        </a:rPr>
                        <a:t>[render ✔ / procedure ready]</a:t>
                      </a:r>
                    </a:p>
                  </a:txBody>
                  <a:tcPr marL="73152" marR="73152" marT="36576" marB="36576">
                    <a:solidFill>
                      <a:srgbClr val="F7F4EE"/>
                    </a:solidFill>
                  </a:tcPr>
                </a:tc>
              </a:tr>
              <a:tr h="548639">
                <a:tc>
                  <a:txBody>
                    <a:bodyPr/>
                    <a:lstStyle/>
                    <a:p>
                      <a:r>
                        <a:rPr b="0" sz="1300">
                          <a:solidFill>
                            <a:srgbClr val="1A1A2E"/>
                          </a:solidFill>
                          <a:latin typeface="Calibri"/>
                        </a:rPr>
                        <a:t>Slack</a:t>
                      </a:r>
                    </a:p>
                  </a:txBody>
                  <a:tcPr marL="73152" marR="73152" marT="36576" marB="36576">
                    <a:solidFill>
                      <a:srgbClr val="FFFDF8"/>
                    </a:solidFill>
                  </a:tcPr>
                </a:tc>
                <a:tc>
                  <a:txBody>
                    <a:bodyPr/>
                    <a:lstStyle/>
                    <a:p>
                      <a:r>
                        <a:rPr b="1" sz="1300">
                          <a:solidFill>
                            <a:srgbClr val="1A1A2E"/>
                          </a:solidFill>
                          <a:latin typeface="Calibri"/>
                        </a:rPr>
                        <a:t>Slackbot via MCP Apps only</a:t>
                      </a:r>
                      <a:r>
                        <a:rPr b="0" sz="1300">
                          <a:solidFill>
                            <a:srgbClr val="1A1A2E"/>
                          </a:solidFill>
                          <a:latin typeface="Calibri"/>
                        </a:rPr>
                        <a:t> — Block Kit cannot render HXL widgets (Salesforce’s statement)</a:t>
                      </a:r>
                    </a:p>
                  </a:txBody>
                  <a:tcPr marL="73152" marR="73152" marT="36576" marB="36576">
                    <a:solidFill>
                      <a:srgbClr val="FFFDF8"/>
                    </a:solidFill>
                  </a:tcPr>
                </a:tc>
                <a:tc>
                  <a:txBody>
                    <a:bodyPr/>
                    <a:lstStyle/>
                    <a:p>
                      <a:r>
                        <a:rPr b="0" sz="1300">
                          <a:solidFill>
                            <a:srgbClr val="1A1A2E"/>
                          </a:solidFill>
                          <a:latin typeface="Calibri"/>
                        </a:rPr>
                        <a:t>gated on workspace availability</a:t>
                      </a:r>
                    </a:p>
                  </a:txBody>
                  <a:tcPr marL="73152" marR="73152" marT="36576" marB="36576">
                    <a:solidFill>
                      <a:srgbClr val="FFFDF8"/>
                    </a:solidFill>
                  </a:tcPr>
                </a:tc>
              </a:tr>
              <a:tr h="548639">
                <a:tc>
                  <a:txBody>
                    <a:bodyPr/>
                    <a:lstStyle/>
                    <a:p>
                      <a:r>
                        <a:rPr b="0" sz="1300">
                          <a:solidFill>
                            <a:srgbClr val="1A1A2E"/>
                          </a:solidFill>
                          <a:latin typeface="Calibri"/>
                        </a:rPr>
                        <a:t>Codex</a:t>
                      </a:r>
                    </a:p>
                  </a:txBody>
                  <a:tcPr marL="73152" marR="73152" marT="36576" marB="36576">
                    <a:solidFill>
                      <a:srgbClr val="F7F4EE"/>
                    </a:solidFill>
                  </a:tcPr>
                </a:tc>
                <a:tc>
                  <a:txBody>
                    <a:bodyPr/>
                    <a:lstStyle/>
                    <a:p>
                      <a:r>
                        <a:rPr b="0" sz="1300">
                          <a:solidFill>
                            <a:srgbClr val="1A1A2E"/>
                          </a:solidFill>
                          <a:latin typeface="Calibri"/>
                        </a:rPr>
                        <a:t>HTTPS or stdio</a:t>
                      </a:r>
                    </a:p>
                  </a:txBody>
                  <a:tcPr marL="73152" marR="73152" marT="36576" marB="36576">
                    <a:solidFill>
                      <a:srgbClr val="F7F4EE"/>
                    </a:solidFill>
                  </a:tcPr>
                </a:tc>
                <a:tc>
                  <a:txBody>
                    <a:bodyPr/>
                    <a:lstStyle/>
                    <a:p>
                      <a:r>
                        <a:rPr b="0" sz="1300">
                          <a:solidFill>
                            <a:srgbClr val="1A1A2E"/>
                          </a:solidFill>
                          <a:latin typeface="Calibri"/>
                        </a:rPr>
                        <a:t>tool contract only — a terminal, nothing renders</a:t>
                      </a:r>
                    </a:p>
                  </a:txBody>
                  <a:tcPr marL="73152" marR="73152" marT="36576" marB="36576">
                    <a:solidFill>
                      <a:srgbClr val="F7F4EE"/>
                    </a:solidFill>
                  </a:tcPr>
                </a:tc>
              </a:tr>
              <a:tr h="548644">
                <a:tc>
                  <a:txBody>
                    <a:bodyPr/>
                    <a:lstStyle/>
                    <a:p>
                      <a:r>
                        <a:rPr b="0" sz="1300">
                          <a:solidFill>
                            <a:srgbClr val="1A1A2E"/>
                          </a:solidFill>
                          <a:latin typeface="Calibri"/>
                        </a:rPr>
                        <a:t>Agentforce</a:t>
                      </a:r>
                    </a:p>
                  </a:txBody>
                  <a:tcPr marL="73152" marR="73152" marT="36576" marB="36576">
                    <a:solidFill>
                      <a:srgbClr val="FFFDF8"/>
                    </a:solidFill>
                  </a:tcPr>
                </a:tc>
                <a:tc>
                  <a:txBody>
                    <a:bodyPr/>
                    <a:lstStyle/>
                    <a:p>
                      <a:r>
                        <a:rPr b="0" sz="1300">
                          <a:solidFill>
                            <a:srgbClr val="1A1A2E"/>
                          </a:solidFill>
                          <a:latin typeface="Calibri"/>
                        </a:rPr>
                        <a:t>Custom Lightning Type + renderer.json, no MCP server</a:t>
                      </a:r>
                    </a:p>
                  </a:txBody>
                  <a:tcPr marL="73152" marR="73152" marT="36576" marB="36576">
                    <a:solidFill>
                      <a:srgbClr val="FFFDF8"/>
                    </a:solidFill>
                  </a:tcPr>
                </a:tc>
                <a:tc>
                  <a:txBody>
                    <a:bodyPr/>
                    <a:lstStyle/>
                    <a:p>
                      <a:r>
                        <a:rPr b="0" sz="1300">
                          <a:solidFill>
                            <a:srgbClr val="1A1A2E"/>
                          </a:solidFill>
                          <a:latin typeface="Calibri"/>
                        </a:rPr>
                        <a:t>not attempted this phase</a:t>
                      </a:r>
                    </a:p>
                  </a:txBody>
                  <a:tcPr marL="73152" marR="73152" marT="36576" marB="36576">
                    <a:solidFill>
                      <a:srgbClr val="FFFD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9</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Governance of the write-back</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Owner from the token. Channel from the layer. Never from the model.</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2011680"/>
          <a:ext cx="6583680" cy="2468880"/>
        </p:xfrm>
        <a:graphic>
          <a:graphicData uri="http://schemas.openxmlformats.org/drawingml/2006/table">
            <a:tbl>
              <a:tblPr firstRow="1" bandRow="1">
                <a:tableStyleId>{5C22544A-7EE6-4342-B048-85BDC9FD1C3A}</a:tableStyleId>
              </a:tblPr>
              <a:tblGrid>
                <a:gridCol w="1645920"/>
                <a:gridCol w="1828800"/>
                <a:gridCol w="1463040"/>
                <a:gridCol w="1645920"/>
              </a:tblGrid>
              <a:tr h="411480">
                <a:tc>
                  <a:txBody>
                    <a:bodyPr/>
                    <a:lstStyle/>
                    <a:p>
                      <a:r>
                        <a:rPr b="1" sz="1300">
                          <a:solidFill>
                            <a:srgbClr val="1A1A2E"/>
                          </a:solidFill>
                          <a:latin typeface="Calibri"/>
                        </a:rPr>
                        <a:t>Name</a:t>
                      </a:r>
                    </a:p>
                  </a:txBody>
                  <a:tcPr marL="73152" marR="73152" marT="36576" marB="36576">
                    <a:solidFill>
                      <a:srgbClr val="E8E4DC"/>
                    </a:solidFill>
                  </a:tcPr>
                </a:tc>
                <a:tc>
                  <a:txBody>
                    <a:bodyPr/>
                    <a:lstStyle/>
                    <a:p>
                      <a:r>
                        <a:rPr b="1" sz="1300">
                          <a:solidFill>
                            <a:srgbClr val="1A1A2E"/>
                          </a:solidFill>
                          <a:latin typeface="Calibri"/>
                        </a:rPr>
                        <a:t>Owner Contact</a:t>
                      </a:r>
                    </a:p>
                  </a:txBody>
                  <a:tcPr marL="73152" marR="73152" marT="36576" marB="36576">
                    <a:solidFill>
                      <a:srgbClr val="E8E4DC"/>
                    </a:solidFill>
                  </a:tcPr>
                </a:tc>
                <a:tc>
                  <a:txBody>
                    <a:bodyPr/>
                    <a:lstStyle/>
                    <a:p>
                      <a:r>
                        <a:rPr b="1" sz="1300">
                          <a:solidFill>
                            <a:srgbClr val="1A1A2E"/>
                          </a:solidFill>
                          <a:latin typeface="Calibri"/>
                        </a:rPr>
                        <a:t>Channel</a:t>
                      </a:r>
                    </a:p>
                  </a:txBody>
                  <a:tcPr marL="73152" marR="73152" marT="36576" marB="36576">
                    <a:solidFill>
                      <a:srgbClr val="E8E4DC"/>
                    </a:solidFill>
                  </a:tcPr>
                </a:tc>
                <a:tc>
                  <a:txBody>
                    <a:bodyPr/>
                    <a:lstStyle/>
                    <a:p>
                      <a:r>
                        <a:rPr b="1" sz="1300">
                          <a:solidFill>
                            <a:srgbClr val="1A1A2E"/>
                          </a:solidFill>
                          <a:latin typeface="Calibri"/>
                        </a:rPr>
                        <a:t>Status</a:t>
                      </a:r>
                    </a:p>
                  </a:txBody>
                  <a:tcPr marL="73152" marR="73152" marT="36576" marB="36576">
                    <a:solidFill>
                      <a:srgbClr val="E8E4DC"/>
                    </a:solidFill>
                  </a:tcPr>
                </a:tc>
              </a:tr>
              <a:tr h="411480">
                <a:tc>
                  <a:txBody>
                    <a:bodyPr/>
                    <a:lstStyle/>
                    <a:p>
                      <a:r>
                        <a:rPr b="0" sz="1300">
                          <a:solidFill>
                            <a:srgbClr val="1A1A2E"/>
                          </a:solidFill>
                          <a:latin typeface="Calibri"/>
                        </a:rPr>
                        <a:t>ORD-00016</a:t>
                      </a:r>
                    </a:p>
                  </a:txBody>
                  <a:tcPr marL="73152" marR="73152" marT="36576" marB="36576">
                    <a:solidFill>
                      <a:srgbClr val="FFFDF8"/>
                    </a:solidFill>
                  </a:tcPr>
                </a:tc>
                <a:tc>
                  <a:txBody>
                    <a:bodyPr/>
                    <a:lstStyle/>
                    <a:p>
                      <a:r>
                        <a:rPr b="0" sz="1300">
                          <a:solidFill>
                            <a:srgbClr val="1A1A2E"/>
                          </a:solidFill>
                          <a:latin typeface="Calibri"/>
                        </a:rPr>
                        <a:t>Ada Lovelace</a:t>
                      </a:r>
                    </a:p>
                  </a:txBody>
                  <a:tcPr marL="73152" marR="73152" marT="36576" marB="36576">
                    <a:solidFill>
                      <a:srgbClr val="FFFDF8"/>
                    </a:solidFill>
                  </a:tcPr>
                </a:tc>
                <a:tc>
                  <a:txBody>
                    <a:bodyPr/>
                    <a:lstStyle/>
                    <a:p>
                      <a:r>
                        <a:rPr b="0" sz="1300">
                          <a:solidFill>
                            <a:srgbClr val="1A1A2E"/>
                          </a:solidFill>
                          <a:latin typeface="Calibri"/>
                        </a:rPr>
                        <a:t>web</a:t>
                      </a:r>
                    </a:p>
                  </a:txBody>
                  <a:tcPr marL="73152" marR="73152" marT="36576" marB="36576">
                    <a:solidFill>
                      <a:srgbClr val="FFFDF8"/>
                    </a:solidFill>
                  </a:tcPr>
                </a:tc>
                <a:tc>
                  <a:txBody>
                    <a:bodyPr/>
                    <a:lstStyle/>
                    <a:p>
                      <a:r>
                        <a:rPr b="0" sz="1300">
                          <a:solidFill>
                            <a:srgbClr val="1A1A2E"/>
                          </a:solidFill>
                          <a:latin typeface="Calibri"/>
                        </a:rPr>
                        <a:t>Cancelled</a:t>
                      </a:r>
                    </a:p>
                  </a:txBody>
                  <a:tcPr marL="73152" marR="73152" marT="36576" marB="36576">
                    <a:solidFill>
                      <a:srgbClr val="FFFDF8"/>
                    </a:solidFill>
                  </a:tcPr>
                </a:tc>
              </a:tr>
              <a:tr h="411480">
                <a:tc>
                  <a:txBody>
                    <a:bodyPr/>
                    <a:lstStyle/>
                    <a:p>
                      <a:r>
                        <a:rPr b="0" sz="1300">
                          <a:solidFill>
                            <a:srgbClr val="1A1A2E"/>
                          </a:solidFill>
                          <a:latin typeface="Calibri"/>
                        </a:rPr>
                        <a:t>ORD-00015</a:t>
                      </a:r>
                    </a:p>
                  </a:txBody>
                  <a:tcPr marL="73152" marR="73152" marT="36576" marB="36576">
                    <a:solidFill>
                      <a:srgbClr val="F7F4EE"/>
                    </a:solidFill>
                  </a:tcPr>
                </a:tc>
                <a:tc>
                  <a:txBody>
                    <a:bodyPr/>
                    <a:lstStyle/>
                    <a:p>
                      <a:r>
                        <a:rPr b="0" sz="1300">
                          <a:solidFill>
                            <a:srgbClr val="1A1A2E"/>
                          </a:solidFill>
                          <a:latin typeface="Calibri"/>
                        </a:rPr>
                        <a:t>Ada Lovelace</a:t>
                      </a:r>
                    </a:p>
                  </a:txBody>
                  <a:tcPr marL="73152" marR="73152" marT="36576" marB="36576">
                    <a:solidFill>
                      <a:srgbClr val="F7F4EE"/>
                    </a:solidFill>
                  </a:tcPr>
                </a:tc>
                <a:tc>
                  <a:txBody>
                    <a:bodyPr/>
                    <a:lstStyle/>
                    <a:p>
                      <a:r>
                        <a:rPr b="0" sz="1300">
                          <a:solidFill>
                            <a:srgbClr val="1A1A2E"/>
                          </a:solidFill>
                          <a:latin typeface="Calibri"/>
                        </a:rPr>
                        <a:t>chatgpt</a:t>
                      </a:r>
                    </a:p>
                  </a:txBody>
                  <a:tcPr marL="73152" marR="73152" marT="36576" marB="36576">
                    <a:solidFill>
                      <a:srgbClr val="F7F4EE"/>
                    </a:solidFill>
                  </a:tcPr>
                </a:tc>
                <a:tc>
                  <a:txBody>
                    <a:bodyPr/>
                    <a:lstStyle/>
                    <a:p>
                      <a:r>
                        <a:rPr b="0" sz="1300">
                          <a:solidFill>
                            <a:srgbClr val="1A1A2E"/>
                          </a:solidFill>
                          <a:latin typeface="Calibri"/>
                        </a:rPr>
                        <a:t>Submitted</a:t>
                      </a:r>
                    </a:p>
                  </a:txBody>
                  <a:tcPr marL="73152" marR="73152" marT="36576" marB="36576">
                    <a:solidFill>
                      <a:srgbClr val="F7F4EE"/>
                    </a:solidFill>
                  </a:tcPr>
                </a:tc>
              </a:tr>
              <a:tr h="411480">
                <a:tc>
                  <a:txBody>
                    <a:bodyPr/>
                    <a:lstStyle/>
                    <a:p>
                      <a:r>
                        <a:rPr b="0" sz="1300">
                          <a:solidFill>
                            <a:srgbClr val="1A1A2E"/>
                          </a:solidFill>
                          <a:latin typeface="Calibri"/>
                        </a:rPr>
                        <a:t>ORD-00014</a:t>
                      </a:r>
                    </a:p>
                  </a:txBody>
                  <a:tcPr marL="73152" marR="73152" marT="36576" marB="36576">
                    <a:solidFill>
                      <a:srgbClr val="FFFDF8"/>
                    </a:solidFill>
                  </a:tcPr>
                </a:tc>
                <a:tc>
                  <a:txBody>
                    <a:bodyPr/>
                    <a:lstStyle/>
                    <a:p>
                      <a:r>
                        <a:rPr b="0" sz="1300">
                          <a:solidFill>
                            <a:srgbClr val="1A1A2E"/>
                          </a:solidFill>
                          <a:latin typeface="Calibri"/>
                        </a:rPr>
                        <a:t>Ada Lovelace</a:t>
                      </a:r>
                    </a:p>
                  </a:txBody>
                  <a:tcPr marL="73152" marR="73152" marT="36576" marB="36576">
                    <a:solidFill>
                      <a:srgbClr val="FFFDF8"/>
                    </a:solidFill>
                  </a:tcPr>
                </a:tc>
                <a:tc>
                  <a:txBody>
                    <a:bodyPr/>
                    <a:lstStyle/>
                    <a:p>
                      <a:r>
                        <a:rPr b="0" sz="1300">
                          <a:solidFill>
                            <a:srgbClr val="1A1A2E"/>
                          </a:solidFill>
                          <a:latin typeface="Calibri"/>
                        </a:rPr>
                        <a:t>claude</a:t>
                      </a:r>
                    </a:p>
                  </a:txBody>
                  <a:tcPr marL="73152" marR="73152" marT="36576" marB="36576">
                    <a:solidFill>
                      <a:srgbClr val="FFFDF8"/>
                    </a:solidFill>
                  </a:tcPr>
                </a:tc>
                <a:tc>
                  <a:txBody>
                    <a:bodyPr/>
                    <a:lstStyle/>
                    <a:p>
                      <a:r>
                        <a:rPr b="0" sz="1300">
                          <a:solidFill>
                            <a:srgbClr val="1A1A2E"/>
                          </a:solidFill>
                          <a:latin typeface="Calibri"/>
                        </a:rPr>
                        <a:t>Submitted</a:t>
                      </a:r>
                    </a:p>
                  </a:txBody>
                  <a:tcPr marL="73152" marR="73152" marT="36576" marB="36576">
                    <a:solidFill>
                      <a:srgbClr val="FFFDF8"/>
                    </a:solidFill>
                  </a:tcPr>
                </a:tc>
              </a:tr>
              <a:tr h="411480">
                <a:tc>
                  <a:txBody>
                    <a:bodyPr/>
                    <a:lstStyle/>
                    <a:p>
                      <a:r>
                        <a:rPr b="0" sz="1300">
                          <a:solidFill>
                            <a:srgbClr val="1A1A2E"/>
                          </a:solidFill>
                          <a:latin typeface="Calibri"/>
                        </a:rPr>
                        <a:t>ORD-00013</a:t>
                      </a:r>
                    </a:p>
                  </a:txBody>
                  <a:tcPr marL="73152" marR="73152" marT="36576" marB="36576">
                    <a:solidFill>
                      <a:srgbClr val="F7F4EE"/>
                    </a:solidFill>
                  </a:tcPr>
                </a:tc>
                <a:tc>
                  <a:txBody>
                    <a:bodyPr/>
                    <a:lstStyle/>
                    <a:p>
                      <a:r>
                        <a:rPr b="0" sz="1300">
                          <a:solidFill>
                            <a:srgbClr val="1A1A2E"/>
                          </a:solidFill>
                          <a:latin typeface="Calibri"/>
                        </a:rPr>
                        <a:t>Ada Lovelace</a:t>
                      </a:r>
                    </a:p>
                  </a:txBody>
                  <a:tcPr marL="73152" marR="73152" marT="36576" marB="36576">
                    <a:solidFill>
                      <a:srgbClr val="F7F4EE"/>
                    </a:solidFill>
                  </a:tcPr>
                </a:tc>
                <a:tc>
                  <a:txBody>
                    <a:bodyPr/>
                    <a:lstStyle/>
                    <a:p>
                      <a:r>
                        <a:rPr b="0" sz="1300">
                          <a:solidFill>
                            <a:srgbClr val="1A1A2E"/>
                          </a:solidFill>
                          <a:latin typeface="Calibri"/>
                        </a:rPr>
                        <a:t>chatgpt</a:t>
                      </a:r>
                    </a:p>
                  </a:txBody>
                  <a:tcPr marL="73152" marR="73152" marT="36576" marB="36576">
                    <a:solidFill>
                      <a:srgbClr val="F7F4EE"/>
                    </a:solidFill>
                  </a:tcPr>
                </a:tc>
                <a:tc>
                  <a:txBody>
                    <a:bodyPr/>
                    <a:lstStyle/>
                    <a:p>
                      <a:r>
                        <a:rPr b="0" sz="1300">
                          <a:solidFill>
                            <a:srgbClr val="1A1A2E"/>
                          </a:solidFill>
                          <a:latin typeface="Calibri"/>
                        </a:rPr>
                        <a:t>Submitted</a:t>
                      </a:r>
                    </a:p>
                  </a:txBody>
                  <a:tcPr marL="73152" marR="73152" marT="36576" marB="36576">
                    <a:solidFill>
                      <a:srgbClr val="F7F4EE"/>
                    </a:solidFill>
                  </a:tcPr>
                </a:tc>
              </a:tr>
              <a:tr h="411480">
                <a:tc>
                  <a:txBody>
                    <a:bodyPr/>
                    <a:lstStyle/>
                    <a:p>
                      <a:r>
                        <a:rPr b="0" sz="1300">
                          <a:solidFill>
                            <a:srgbClr val="1A1A2E"/>
                          </a:solidFill>
                          <a:latin typeface="Calibri"/>
                        </a:rPr>
                        <a:t>ORD-00012</a:t>
                      </a:r>
                    </a:p>
                  </a:txBody>
                  <a:tcPr marL="73152" marR="73152" marT="36576" marB="36576">
                    <a:solidFill>
                      <a:srgbClr val="FFFDF8"/>
                    </a:solidFill>
                  </a:tcPr>
                </a:tc>
                <a:tc>
                  <a:txBody>
                    <a:bodyPr/>
                    <a:lstStyle/>
                    <a:p>
                      <a:r>
                        <a:rPr b="0" sz="1300">
                          <a:solidFill>
                            <a:srgbClr val="1A1A2E"/>
                          </a:solidFill>
                          <a:latin typeface="Calibri"/>
                        </a:rPr>
                        <a:t>Ada Lovelace</a:t>
                      </a:r>
                    </a:p>
                  </a:txBody>
                  <a:tcPr marL="73152" marR="73152" marT="36576" marB="36576">
                    <a:solidFill>
                      <a:srgbClr val="FFFDF8"/>
                    </a:solidFill>
                  </a:tcPr>
                </a:tc>
                <a:tc>
                  <a:txBody>
                    <a:bodyPr/>
                    <a:lstStyle/>
                    <a:p>
                      <a:r>
                        <a:rPr b="0" sz="1300">
                          <a:solidFill>
                            <a:srgbClr val="1A1A2E"/>
                          </a:solidFill>
                          <a:latin typeface="Calibri"/>
                        </a:rPr>
                        <a:t>slack</a:t>
                      </a:r>
                    </a:p>
                  </a:txBody>
                  <a:tcPr marL="73152" marR="73152" marT="36576" marB="36576">
                    <a:solidFill>
                      <a:srgbClr val="FFFDF8"/>
                    </a:solidFill>
                  </a:tcPr>
                </a:tc>
                <a:tc>
                  <a:txBody>
                    <a:bodyPr/>
                    <a:lstStyle/>
                    <a:p>
                      <a:r>
                        <a:rPr b="0" sz="1300">
                          <a:solidFill>
                            <a:srgbClr val="1A1A2E"/>
                          </a:solidFill>
                          <a:latin typeface="Calibri"/>
                        </a:rPr>
                        <a:t>Submitted</a:t>
                      </a:r>
                    </a:p>
                  </a:txBody>
                  <a:tcPr marL="73152" marR="73152" marT="36576" marB="36576">
                    <a:solidFill>
                      <a:srgbClr val="FFFDF8"/>
                    </a:solidFill>
                  </a:tcPr>
                </a:tc>
              </a:tr>
            </a:tbl>
          </a:graphicData>
        </a:graphic>
      </p:graphicFrame>
      <p:sp>
        <p:nvSpPr>
          <p:cNvPr id="8" name="TextBox 7"/>
          <p:cNvSpPr txBox="1"/>
          <p:nvPr/>
        </p:nvSpPr>
        <p:spPr>
          <a:xfrm>
            <a:off x="640080" y="4663440"/>
            <a:ext cx="6583680" cy="365760"/>
          </a:xfrm>
          <a:prstGeom prst="rect">
            <a:avLst/>
          </a:prstGeom>
          <a:noFill/>
        </p:spPr>
        <p:txBody>
          <a:bodyPr wrap="square" anchor="t" lIns="45720" rIns="45720">
            <a:spAutoFit/>
          </a:bodyPr>
          <a:lstStyle/>
          <a:p>
            <a:pPr algn="l"/>
            <a:r>
              <a:rPr b="0" sz="1000">
                <a:solidFill>
                  <a:srgbClr val="78716C"/>
                </a:solidFill>
                <a:latin typeface="Calibri"/>
              </a:rPr>
              <a:t>Live rows from the org, 12 Sep 2026 — </a:t>
            </a:r>
            <a:r>
              <a:rPr sz="1000">
                <a:solidFill>
                  <a:srgbClr val="78716C"/>
                </a:solidFill>
                <a:latin typeface="Consolas"/>
              </a:rPr>
              <a:t>SELECT Name, Owner_Contact__r.Name, Channel__c, Status__c FROM HXL_Order__c</a:t>
            </a:r>
          </a:p>
        </p:txBody>
      </p:sp>
      <p:sp>
        <p:nvSpPr>
          <p:cNvPr id="9" name="TextBox 8"/>
          <p:cNvSpPr txBox="1"/>
          <p:nvPr/>
        </p:nvSpPr>
        <p:spPr>
          <a:xfrm>
            <a:off x="7589520" y="2011680"/>
            <a:ext cx="4114800" cy="3657600"/>
          </a:xfrm>
          <a:prstGeom prst="rect">
            <a:avLst/>
          </a:prstGeom>
          <a:noFill/>
        </p:spPr>
        <p:txBody>
          <a:bodyPr wrap="square">
            <a:spAutoFit/>
          </a:bodyPr>
          <a:lstStyle/>
          <a:p>
            <a:pPr>
              <a:spcAft>
                <a:spcPts val="1000"/>
              </a:spcAft>
            </a:pPr>
            <a:r>
              <a:rPr b="0" sz="1400">
                <a:solidFill>
                  <a:srgbClr val="1A1A2E"/>
                </a:solidFill>
                <a:latin typeface="Calibri"/>
              </a:rPr>
              <a:t>•  Every write runs </a:t>
            </a:r>
            <a:r>
              <a:rPr sz="1200">
                <a:solidFill>
                  <a:srgbClr val="1A1A2E"/>
                </a:solidFill>
                <a:latin typeface="Consolas"/>
              </a:rPr>
              <a:t>insert as user</a:t>
            </a:r>
            <a:r>
              <a:rPr b="0" sz="1400">
                <a:solidFill>
                  <a:srgbClr val="1A1A2E"/>
                </a:solidFill>
                <a:latin typeface="Calibri"/>
              </a:rPr>
              <a:t> / </a:t>
            </a:r>
            <a:r>
              <a:rPr sz="1200">
                <a:solidFill>
                  <a:srgbClr val="1A1A2E"/>
                </a:solidFill>
                <a:latin typeface="Consolas"/>
              </a:rPr>
              <a:t>update as user</a:t>
            </a:r>
          </a:p>
          <a:p>
            <a:pPr>
              <a:spcAft>
                <a:spcPts val="1000"/>
              </a:spcAft>
            </a:pPr>
            <a:r>
              <a:rPr b="0" sz="1400">
                <a:solidFill>
                  <a:srgbClr val="1A1A2E"/>
                </a:solidFill>
                <a:latin typeface="Calibri"/>
              </a:rPr>
              <a:t>•  Channel comes from the transport (stdio → claude; path → chatgpt / slack)</a:t>
            </a:r>
          </a:p>
          <a:p>
            <a:pPr>
              <a:spcAft>
                <a:spcPts val="1000"/>
              </a:spcAft>
            </a:pPr>
            <a:r>
              <a:rPr b="0" sz="1400">
                <a:solidFill>
                  <a:srgbClr val="1A1A2E"/>
                </a:solidFill>
                <a:latin typeface="Calibri"/>
              </a:rPr>
              <a:t>•  Unknown channel → </a:t>
            </a:r>
            <a:r>
              <a:rPr sz="1200">
                <a:solidFill>
                  <a:srgbClr val="1A1A2E"/>
                </a:solidFill>
                <a:latin typeface="Consolas"/>
              </a:rPr>
              <a:t>other</a:t>
            </a:r>
            <a:r>
              <a:rPr b="0" sz="1400">
                <a:solidFill>
                  <a:srgbClr val="1A1A2E"/>
                </a:solidFill>
                <a:latin typeface="Calibri"/>
              </a:rPr>
              <a:t>, never rejected</a:t>
            </a:r>
          </a:p>
          <a:p>
            <a:pPr>
              <a:spcAft>
                <a:spcPts val="1000"/>
              </a:spcAft>
            </a:pPr>
            <a:r>
              <a:rPr b="0" sz="1400">
                <a:solidFill>
                  <a:srgbClr val="1A1A2E"/>
                </a:solidFill>
                <a:latin typeface="Calibri"/>
              </a:rPr>
              <a:t>•  Cancel: Draft/Submitted only; Shipped → refused; someone else’s → invisible before any rule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10</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Where the docs and the org disagree</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Top 8 of 17 reproduced divergences</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10972800" cy="4114800"/>
          </a:xfrm>
          <a:prstGeom prst="rect">
            <a:avLst/>
          </a:prstGeom>
          <a:noFill/>
        </p:spPr>
        <p:txBody>
          <a:bodyPr wrap="square">
            <a:spAutoFit/>
          </a:bodyPr>
          <a:lstStyle/>
          <a:p>
            <a:pPr>
              <a:spcAft>
                <a:spcPts val="700"/>
              </a:spcAft>
            </a:pPr>
            <a:r>
              <a:rPr b="0" sz="1600">
                <a:solidFill>
                  <a:srgbClr val="1A1A2E"/>
                </a:solidFill>
                <a:latin typeface="Calibri"/>
              </a:rPr>
              <a:t>•  The Setup UI silently fails to save (a role, a self-registration flag, an auth setting)</a:t>
            </a:r>
          </a:p>
          <a:p>
            <a:pPr>
              <a:spcAft>
                <a:spcPts val="700"/>
              </a:spcAft>
            </a:pPr>
            <a:r>
              <a:rPr b="0" sz="1600">
                <a:solidFill>
                  <a:srgbClr val="1A1A2E"/>
                </a:solidFill>
                <a:latin typeface="Calibri"/>
              </a:rPr>
              <a:t>•  A successful headless authorize is HTTP </a:t>
            </a:r>
            <a:r>
              <a:rPr b="1" sz="1600">
                <a:solidFill>
                  <a:srgbClr val="1A1A2E"/>
                </a:solidFill>
                <a:latin typeface="Calibri"/>
              </a:rPr>
              <a:t>302</a:t>
            </a:r>
            <a:r>
              <a:rPr b="0" sz="1600">
                <a:solidFill>
                  <a:srgbClr val="1A1A2E"/>
                </a:solidFill>
                <a:latin typeface="Calibri"/>
              </a:rPr>
              <a:t> with the code in a header — not JSON</a:t>
            </a:r>
          </a:p>
          <a:p>
            <a:pPr>
              <a:spcAft>
                <a:spcPts val="700"/>
              </a:spcAft>
            </a:pPr>
            <a:r>
              <a:rPr b="0" sz="1600">
                <a:solidFill>
                  <a:srgbClr val="1A1A2E"/>
                </a:solidFill>
                <a:latin typeface="Calibri"/>
              </a:rPr>
              <a:t>•  Identity calls and data calls must go to </a:t>
            </a:r>
            <a:r>
              <a:rPr b="1" sz="1600">
                <a:solidFill>
                  <a:srgbClr val="1A1A2E"/>
                </a:solidFill>
                <a:latin typeface="Calibri"/>
              </a:rPr>
              <a:t>different hosts</a:t>
            </a:r>
          </a:p>
          <a:p>
            <a:pPr>
              <a:spcAft>
                <a:spcPts val="700"/>
              </a:spcAft>
            </a:pPr>
            <a:r>
              <a:rPr b="0" sz="1600">
                <a:solidFill>
                  <a:srgbClr val="1A1A2E"/>
                </a:solidFill>
                <a:latin typeface="Calibri"/>
              </a:rPr>
              <a:t>•  A card accepts at most </a:t>
            </a:r>
            <a:r>
              <a:rPr b="1" sz="1600">
                <a:solidFill>
                  <a:srgbClr val="1A1A2E"/>
                </a:solidFill>
                <a:latin typeface="Calibri"/>
              </a:rPr>
              <a:t>10 children</a:t>
            </a:r>
            <a:r>
              <a:rPr b="0" sz="1600">
                <a:solidFill>
                  <a:srgbClr val="1A1A2E"/>
                </a:solidFill>
                <a:latin typeface="Calibri"/>
              </a:rPr>
              <a:t>; a column rejects </a:t>
            </a:r>
            <a:r>
              <a:rPr sz="1400">
                <a:solidFill>
                  <a:srgbClr val="1A1A2E"/>
                </a:solidFill>
                <a:latin typeface="Consolas"/>
              </a:rPr>
              <a:t>padding</a:t>
            </a:r>
            <a:r>
              <a:rPr b="0" sz="1600">
                <a:solidFill>
                  <a:srgbClr val="1A1A2E"/>
                </a:solidFill>
                <a:latin typeface="Calibri"/>
              </a:rPr>
              <a:t> — the public example won’t deploy</a:t>
            </a:r>
          </a:p>
          <a:p>
            <a:pPr>
              <a:spcAft>
                <a:spcPts val="700"/>
              </a:spcAft>
            </a:pPr>
            <a:r>
              <a:rPr b="0" sz="1600">
                <a:solidFill>
                  <a:srgbClr val="1A1A2E"/>
                </a:solidFill>
                <a:latin typeface="Calibri"/>
              </a:rPr>
              <a:t>•  A deployed widget is </a:t>
            </a:r>
            <a:r>
              <a:rPr b="1" sz="1600">
                <a:solidFill>
                  <a:srgbClr val="1A1A2E"/>
                </a:solidFill>
                <a:latin typeface="Calibri"/>
              </a:rPr>
              <a:t>invisible in Setup</a:t>
            </a:r>
            <a:r>
              <a:rPr b="0" sz="1600">
                <a:solidFill>
                  <a:srgbClr val="1A1A2E"/>
                </a:solidFill>
                <a:latin typeface="Calibri"/>
              </a:rPr>
              <a:t>; verify by retrieve</a:t>
            </a:r>
          </a:p>
          <a:p>
            <a:pPr>
              <a:spcAft>
                <a:spcPts val="700"/>
              </a:spcAft>
            </a:pPr>
            <a:r>
              <a:rPr b="0" sz="1600">
                <a:solidFill>
                  <a:srgbClr val="1A1A2E"/>
                </a:solidFill>
                <a:latin typeface="Calibri"/>
              </a:rPr>
              <a:t>•  The platform </a:t>
            </a:r>
            <a:r>
              <a:rPr b="1" sz="1600">
                <a:solidFill>
                  <a:srgbClr val="1A1A2E"/>
                </a:solidFill>
                <a:latin typeface="Calibri"/>
              </a:rPr>
              <a:t>rewrites widget JSON on save</a:t>
            </a:r>
            <a:r>
              <a:rPr b="0" sz="1600">
                <a:solidFill>
                  <a:srgbClr val="1A1A2E"/>
                </a:solidFill>
                <a:latin typeface="Calibri"/>
              </a:rPr>
              <a:t> (ids, defaults) — retrieve ≠ source</a:t>
            </a:r>
          </a:p>
          <a:p>
            <a:pPr>
              <a:spcAft>
                <a:spcPts val="700"/>
              </a:spcAft>
            </a:pPr>
            <a:r>
              <a:rPr b="0" sz="1600">
                <a:solidFill>
                  <a:srgbClr val="1A1A2E"/>
                </a:solidFill>
                <a:latin typeface="Calibri"/>
              </a:rPr>
              <a:t>•  </a:t>
            </a:r>
            <a:r>
              <a:rPr sz="1400">
                <a:solidFill>
                  <a:srgbClr val="1A1A2E"/>
                </a:solidFill>
                <a:latin typeface="Consolas"/>
              </a:rPr>
              <a:t>WITH USER_MODE</a:t>
            </a:r>
            <a:r>
              <a:rPr b="0" sz="1600">
                <a:solidFill>
                  <a:srgbClr val="1A1A2E"/>
                </a:solidFill>
                <a:latin typeface="Calibri"/>
              </a:rPr>
              <a:t> + missing FLS fails as "Variable does not exist: </a:t>
            </a:r>
            <a:r>
              <a:rPr b="1" sz="1600">
                <a:solidFill>
                  <a:srgbClr val="1A1A2E"/>
                </a:solidFill>
                <a:latin typeface="Calibri"/>
              </a:rPr>
              <a:t>tmpVar1</a:t>
            </a:r>
            <a:r>
              <a:rPr b="0" sz="1600">
                <a:solidFill>
                  <a:srgbClr val="1A1A2E"/>
                </a:solidFill>
                <a:latin typeface="Calibri"/>
              </a:rPr>
              <a:t>"</a:t>
            </a:r>
          </a:p>
          <a:p>
            <a:pPr>
              <a:spcAft>
                <a:spcPts val="700"/>
              </a:spcAft>
            </a:pPr>
            <a:r>
              <a:rPr b="0" sz="1600">
                <a:solidFill>
                  <a:srgbClr val="1A1A2E"/>
                </a:solidFill>
                <a:latin typeface="Calibri"/>
              </a:rPr>
              <a:t>•  developer.salesforce.com returns </a:t>
            </a:r>
            <a:r>
              <a:rPr b="1" sz="1600">
                <a:solidFill>
                  <a:srgbClr val="1A1A2E"/>
                </a:solidFill>
                <a:latin typeface="Calibri"/>
              </a:rPr>
              <a:t>403</a:t>
            </a:r>
            <a:r>
              <a:rPr b="0" sz="1600">
                <a:solidFill>
                  <a:srgbClr val="1A1A2E"/>
                </a:solidFill>
                <a:latin typeface="Calibri"/>
              </a:rPr>
              <a:t> to every automated client — read the docs by hand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11</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What does not work, and why</a:t>
            </a:r>
          </a:p>
        </p:txBody>
      </p:sp>
      <p:sp>
        <p:nvSpPr>
          <p:cNvPr id="5" name="Rectangle 4"/>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10972800" cy="4114800"/>
          </a:xfrm>
          <a:prstGeom prst="rect">
            <a:avLst/>
          </a:prstGeom>
          <a:noFill/>
        </p:spPr>
        <p:txBody>
          <a:bodyPr wrap="square">
            <a:spAutoFit/>
          </a:bodyPr>
          <a:lstStyle/>
          <a:p>
            <a:pPr>
              <a:spcAft>
                <a:spcPts val="1400"/>
              </a:spcAft>
            </a:pPr>
            <a:r>
              <a:rPr b="0" sz="1600">
                <a:solidFill>
                  <a:srgbClr val="1A1A2E"/>
                </a:solidFill>
                <a:latin typeface="Calibri"/>
              </a:rPr>
              <a:t>•  </a:t>
            </a:r>
            <a:r>
              <a:rPr b="1" sz="1600">
                <a:solidFill>
                  <a:srgbClr val="1A1A2E"/>
                </a:solidFill>
                <a:latin typeface="Calibri"/>
              </a:rPr>
              <a:t>3 of 4 identity flows</a:t>
            </a:r>
            <a:r>
              <a:rPr b="0" sz="1600">
                <a:solidFill>
                  <a:srgbClr val="1A1A2E"/>
                </a:solidFill>
                <a:latin typeface="Calibri"/>
              </a:rPr>
              <a:t> (Registration, Passwordless, Forgot Password) are built in code but blocked at the org’s init-endpoint wall — every mintable credential rejected differently, one root cause. Recommended route: first-party client attestation (certificate + ~40 lines of JWT). Characterised, not mysterious.</a:t>
            </a:r>
          </a:p>
          <a:p>
            <a:pPr>
              <a:spcAft>
                <a:spcPts val="1400"/>
              </a:spcAft>
            </a:pPr>
            <a:r>
              <a:rPr b="0" sz="1600">
                <a:solidFill>
                  <a:srgbClr val="1A1A2E"/>
                </a:solidFill>
                <a:latin typeface="Calibri"/>
              </a:rPr>
              <a:t>•  </a:t>
            </a:r>
            <a:r>
              <a:rPr b="1" sz="1600">
                <a:solidFill>
                  <a:srgbClr val="1A1A2E"/>
                </a:solidFill>
                <a:latin typeface="Calibri"/>
              </a:rPr>
              <a:t>The password transits the chat</a:t>
            </a:r>
            <a:r>
              <a:rPr b="0" sz="1600">
                <a:solidFill>
                  <a:srgbClr val="1A1A2E"/>
                </a:solidFill>
                <a:latin typeface="Calibri"/>
              </a:rPr>
              <a:t> for </a:t>
            </a:r>
            <a:r>
              <a:rPr sz="1400">
                <a:solidFill>
                  <a:srgbClr val="1A1A2E"/>
                </a:solidFill>
                <a:latin typeface="Consolas"/>
              </a:rPr>
              <a:t>sign_in</a:t>
            </a:r>
            <a:r>
              <a:rPr b="0" sz="1600">
                <a:solidFill>
                  <a:srgbClr val="1A1A2E"/>
                </a:solidFill>
                <a:latin typeface="Calibri"/>
              </a:rPr>
              <a:t>. POC-grade. The real design is MCP OAuth with the identity layer as the authorization server — the host opens a login page and no credential ever passes through the model.</a:t>
            </a:r>
          </a:p>
          <a:p>
            <a:pPr>
              <a:spcAft>
                <a:spcPts val="1400"/>
              </a:spcAft>
            </a:pPr>
            <a:r>
              <a:rPr b="0" sz="1600">
                <a:solidFill>
                  <a:srgbClr val="1A1A2E"/>
                </a:solidFill>
                <a:latin typeface="Calibri"/>
              </a:rPr>
              <a:t>•  </a:t>
            </a:r>
            <a:r>
              <a:rPr b="1" sz="1600">
                <a:solidFill>
                  <a:srgbClr val="1A1A2E"/>
                </a:solidFill>
                <a:latin typeface="Calibri"/>
              </a:rPr>
              <a:t>Demo-grade infrastructure</a:t>
            </a:r>
            <a:r>
              <a:rPr b="0" sz="1600">
                <a:solidFill>
                  <a:srgbClr val="1A1A2E"/>
                </a:solidFill>
                <a:latin typeface="Calibri"/>
              </a:rPr>
              <a:t>: in-memory sessions, plain HTTP on localhost, a free tunnel whose URL rotates on restart.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12</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Licensing and the open question</a:t>
            </a:r>
          </a:p>
        </p:txBody>
      </p:sp>
      <p:sp>
        <p:nvSpPr>
          <p:cNvPr id="5" name="Rectangle 4"/>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10972800" cy="2743200"/>
          </a:xfrm>
          <a:prstGeom prst="rect">
            <a:avLst/>
          </a:prstGeom>
          <a:noFill/>
        </p:spPr>
        <p:txBody>
          <a:bodyPr wrap="square">
            <a:spAutoFit/>
          </a:bodyPr>
          <a:lstStyle/>
          <a:p>
            <a:pPr>
              <a:spcAft>
                <a:spcPts val="1200"/>
              </a:spcAft>
            </a:pPr>
            <a:r>
              <a:rPr b="0" sz="1800">
                <a:solidFill>
                  <a:srgbClr val="1A1A2E"/>
                </a:solidFill>
                <a:latin typeface="Calibri"/>
              </a:rPr>
              <a:t>•  This runs on </a:t>
            </a:r>
            <a:r>
              <a:rPr b="1" sz="1800">
                <a:solidFill>
                  <a:srgbClr val="1A1A2E"/>
                </a:solidFill>
                <a:latin typeface="Calibri"/>
              </a:rPr>
              <a:t>Experience Cloud</a:t>
            </a:r>
            <a:r>
              <a:rPr b="0" sz="1800">
                <a:solidFill>
                  <a:srgbClr val="1A1A2E"/>
                </a:solidFill>
                <a:latin typeface="Calibri"/>
              </a:rPr>
              <a:t> licensing — Customer Community users. An invisible site is not a free site.</a:t>
            </a:r>
          </a:p>
          <a:p>
            <a:pPr>
              <a:spcAft>
                <a:spcPts val="1200"/>
              </a:spcAft>
            </a:pPr>
            <a:r>
              <a:rPr b="0" sz="1800">
                <a:solidFill>
                  <a:srgbClr val="1A1A2E"/>
                </a:solidFill>
                <a:latin typeface="Calibri"/>
              </a:rPr>
              <a:t>•  API access was granted at a tier that does not normally include it, and it works.</a:t>
            </a:r>
          </a:p>
        </p:txBody>
      </p:sp>
      <p:sp>
        <p:nvSpPr>
          <p:cNvPr id="7" name="Rounded Rectangle 6"/>
          <p:cNvSpPr/>
          <p:nvPr/>
        </p:nvSpPr>
        <p:spPr>
          <a:xfrm>
            <a:off x="640080" y="4023360"/>
            <a:ext cx="10972800" cy="914400"/>
          </a:xfrm>
          <a:prstGeom prst="roundRect">
            <a:avLst>
              <a:gd name="adj" fmla="val 8000"/>
            </a:avLst>
          </a:prstGeom>
          <a:solidFill>
            <a:srgbClr val="FFF8E8"/>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b="1" sz="1800">
                <a:solidFill>
                  <a:srgbClr val="1A1A2E"/>
                </a:solidFill>
                <a:latin typeface="Calibri"/>
              </a:rPr>
              <a:t>Flagged, not assumed away. Confirm with Salesforce before any commercial reliance.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13</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What "done" looks like, and where we are</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Tick these honestly on the day</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2011680"/>
          <a:ext cx="10972800" cy="2560320"/>
        </p:xfrm>
        <a:graphic>
          <a:graphicData uri="http://schemas.openxmlformats.org/drawingml/2006/table">
            <a:tbl>
              <a:tblPr firstRow="1" bandRow="1">
                <a:tableStyleId>{5C22544A-7EE6-4342-B048-85BDC9FD1C3A}</a:tableStyleId>
              </a:tblPr>
              <a:tblGrid>
                <a:gridCol w="548640"/>
                <a:gridCol w="4572000"/>
                <a:gridCol w="5852160"/>
              </a:tblGrid>
              <a:tr h="640080">
                <a:tc>
                  <a:txBody>
                    <a:bodyPr/>
                    <a:lstStyle/>
                    <a:p>
                      <a:r>
                        <a:rPr b="1" sz="1400">
                          <a:solidFill>
                            <a:srgbClr val="1A1A2E"/>
                          </a:solidFill>
                          <a:latin typeface="Calibri"/>
                        </a:rPr>
                        <a:t>#</a:t>
                      </a:r>
                    </a:p>
                  </a:txBody>
                  <a:tcPr marL="73152" marR="73152" marT="36576" marB="36576">
                    <a:solidFill>
                      <a:srgbClr val="E8E4DC"/>
                    </a:solidFill>
                  </a:tcPr>
                </a:tc>
                <a:tc>
                  <a:txBody>
                    <a:bodyPr/>
                    <a:lstStyle/>
                    <a:p>
                      <a:r>
                        <a:rPr b="1" sz="1400">
                          <a:solidFill>
                            <a:srgbClr val="1A1A2E"/>
                          </a:solidFill>
                          <a:latin typeface="Calibri"/>
                        </a:rPr>
                        <a:t>Success criterion</a:t>
                      </a:r>
                    </a:p>
                  </a:txBody>
                  <a:tcPr marL="73152" marR="73152" marT="36576" marB="36576">
                    <a:solidFill>
                      <a:srgbClr val="E8E4DC"/>
                    </a:solidFill>
                  </a:tcPr>
                </a:tc>
                <a:tc>
                  <a:txBody>
                    <a:bodyPr/>
                    <a:lstStyle/>
                    <a:p>
                      <a:r>
                        <a:rPr b="1" sz="1400">
                          <a:solidFill>
                            <a:srgbClr val="1A1A2E"/>
                          </a:solidFill>
                          <a:latin typeface="Calibri"/>
                        </a:rPr>
                        <a:t>Status 12 Sep</a:t>
                      </a:r>
                    </a:p>
                  </a:txBody>
                  <a:tcPr marL="73152" marR="73152" marT="36576" marB="36576">
                    <a:solidFill>
                      <a:srgbClr val="E8E4DC"/>
                    </a:solidFill>
                  </a:tcPr>
                </a:tc>
              </a:tr>
              <a:tr h="640080">
                <a:tc>
                  <a:txBody>
                    <a:bodyPr/>
                    <a:lstStyle/>
                    <a:p>
                      <a:r>
                        <a:rPr b="0" sz="1400">
                          <a:solidFill>
                            <a:srgbClr val="1A1A2E"/>
                          </a:solidFill>
                          <a:latin typeface="Calibri"/>
                        </a:rPr>
                        <a:t>1</a:t>
                      </a:r>
                    </a:p>
                  </a:txBody>
                  <a:tcPr marL="73152" marR="73152" marT="36576" marB="36576">
                    <a:solidFill>
                      <a:srgbClr val="FFFDF8"/>
                    </a:solidFill>
                  </a:tcPr>
                </a:tc>
                <a:tc>
                  <a:txBody>
                    <a:bodyPr/>
                    <a:lstStyle/>
                    <a:p>
                      <a:r>
                        <a:rPr b="0" sz="1400">
                          <a:solidFill>
                            <a:srgbClr val="1A1A2E"/>
                          </a:solidFill>
                          <a:latin typeface="Calibri"/>
                        </a:rPr>
                        <a:t>Widget renders in a real host; data matches SOQL</a:t>
                      </a:r>
                    </a:p>
                  </a:txBody>
                  <a:tcPr marL="73152" marR="73152" marT="36576" marB="36576">
                    <a:solidFill>
                      <a:srgbClr val="FFFDF8"/>
                    </a:solidFill>
                  </a:tcPr>
                </a:tc>
                <a:tc>
                  <a:txBody>
                    <a:bodyPr/>
                    <a:lstStyle/>
                    <a:p>
                      <a:r>
                        <a:rPr b="0" sz="1400">
                          <a:solidFill>
                            <a:srgbClr val="1A1A2E"/>
                          </a:solidFill>
                          <a:latin typeface="Calibri"/>
                        </a:rPr>
                        <a:t>Server side complete over stdio, HTTP and a public URL · </a:t>
                      </a:r>
                      <a:r>
                        <a:rPr b="1" sz="1400">
                          <a:solidFill>
                            <a:srgbClr val="1A1A2E"/>
                          </a:solidFill>
                          <a:latin typeface="Calibri"/>
                        </a:rPr>
                        <a:t>host render: [fill in]</a:t>
                      </a:r>
                    </a:p>
                  </a:txBody>
                  <a:tcPr marL="73152" marR="73152" marT="36576" marB="36576">
                    <a:solidFill>
                      <a:srgbClr val="FFFDF8"/>
                    </a:solidFill>
                  </a:tcPr>
                </a:tc>
              </a:tr>
              <a:tr h="640080">
                <a:tc>
                  <a:txBody>
                    <a:bodyPr/>
                    <a:lstStyle/>
                    <a:p>
                      <a:r>
                        <a:rPr b="0" sz="1400">
                          <a:solidFill>
                            <a:srgbClr val="1A1A2E"/>
                          </a:solidFill>
                          <a:latin typeface="Calibri"/>
                        </a:rPr>
                        <a:t>2</a:t>
                      </a:r>
                    </a:p>
                  </a:txBody>
                  <a:tcPr marL="73152" marR="73152" marT="36576" marB="36576">
                    <a:solidFill>
                      <a:srgbClr val="F7F4EE"/>
                    </a:solidFill>
                  </a:tcPr>
                </a:tc>
                <a:tc>
                  <a:txBody>
                    <a:bodyPr/>
                    <a:lstStyle/>
                    <a:p>
                      <a:r>
                        <a:rPr b="0" sz="1400">
                          <a:solidFill>
                            <a:srgbClr val="1A1A2E"/>
                          </a:solidFill>
                          <a:latin typeface="Calibri"/>
                        </a:rPr>
                        <a:t>Registration works end to end; second real Contact</a:t>
                      </a:r>
                    </a:p>
                  </a:txBody>
                  <a:tcPr marL="73152" marR="73152" marT="36576" marB="36576">
                    <a:solidFill>
                      <a:srgbClr val="F7F4EE"/>
                    </a:solidFill>
                  </a:tcPr>
                </a:tc>
                <a:tc>
                  <a:txBody>
                    <a:bodyPr/>
                    <a:lstStyle/>
                    <a:p>
                      <a:r>
                        <a:rPr b="0" sz="1400">
                          <a:solidFill>
                            <a:srgbClr val="1A1A2E"/>
                          </a:solidFill>
                          <a:latin typeface="Calibri"/>
                        </a:rPr>
                        <a:t>Blocked at the init-endpoint wall; certificate route scoped</a:t>
                      </a:r>
                    </a:p>
                  </a:txBody>
                  <a:tcPr marL="73152" marR="73152" marT="36576" marB="36576">
                    <a:solidFill>
                      <a:srgbClr val="F7F4EE"/>
                    </a:solidFill>
                  </a:tcPr>
                </a:tc>
              </a:tr>
              <a:tr h="640080">
                <a:tc>
                  <a:txBody>
                    <a:bodyPr/>
                    <a:lstStyle/>
                    <a:p>
                      <a:r>
                        <a:rPr b="0" sz="1400">
                          <a:solidFill>
                            <a:srgbClr val="1A1A2E"/>
                          </a:solidFill>
                          <a:latin typeface="Calibri"/>
                        </a:rPr>
                        <a:t>3</a:t>
                      </a:r>
                    </a:p>
                  </a:txBody>
                  <a:tcPr marL="73152" marR="73152" marT="36576" marB="36576">
                    <a:solidFill>
                      <a:srgbClr val="FFFDF8"/>
                    </a:solidFill>
                  </a:tcPr>
                </a:tc>
                <a:tc>
                  <a:txBody>
                    <a:bodyPr/>
                    <a:lstStyle/>
                    <a:p>
                      <a:r>
                        <a:rPr b="0" sz="1400">
                          <a:solidFill>
                            <a:srgbClr val="1A1A2E"/>
                          </a:solidFill>
                          <a:latin typeface="Calibri"/>
                        </a:rPr>
                        <a:t>Two identities, two sessions, cross-access refused</a:t>
                      </a:r>
                    </a:p>
                  </a:txBody>
                  <a:tcPr marL="73152" marR="73152" marT="36576" marB="36576">
                    <a:solidFill>
                      <a:srgbClr val="FFFDF8"/>
                    </a:solidFill>
                  </a:tcPr>
                </a:tc>
                <a:tc>
                  <a:txBody>
                    <a:bodyPr/>
                    <a:lstStyle/>
                    <a:p>
                      <a:r>
                        <a:rPr b="0" sz="1400">
                          <a:solidFill>
                            <a:srgbClr val="1A1A2E"/>
                          </a:solidFill>
                          <a:latin typeface="Calibri"/>
                        </a:rPr>
                        <a:t>Mechanism complete and verified · </a:t>
                      </a:r>
                      <a:r>
                        <a:rPr b="1" sz="1400">
                          <a:solidFill>
                            <a:srgbClr val="1A1A2E"/>
                          </a:solidFill>
                          <a:latin typeface="Calibri"/>
                        </a:rPr>
                        <a:t>two people on a live host: [fill in]</a:t>
                      </a:r>
                    </a:p>
                  </a:txBody>
                  <a:tcPr marL="73152" marR="73152" marT="36576" marB="36576">
                    <a:solidFill>
                      <a:srgbClr val="FFFD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14</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The ask</a:t>
            </a:r>
          </a:p>
        </p:txBody>
      </p:sp>
      <p:sp>
        <p:nvSpPr>
          <p:cNvPr id="5" name="Rectangle 4"/>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10972800" cy="4114800"/>
          </a:xfrm>
          <a:prstGeom prst="rect">
            <a:avLst/>
          </a:prstGeom>
          <a:noFill/>
        </p:spPr>
        <p:txBody>
          <a:bodyPr wrap="square">
            <a:spAutoFit/>
          </a:bodyPr>
          <a:lstStyle/>
          <a:p>
            <a:pPr>
              <a:spcAft>
                <a:spcPts val="1400"/>
              </a:spcAft>
            </a:pPr>
            <a:r>
              <a:rPr b="0" sz="1700">
                <a:solidFill>
                  <a:srgbClr val="1A1A2E"/>
                </a:solidFill>
                <a:latin typeface="Calibri"/>
              </a:rPr>
              <a:t>•  </a:t>
            </a:r>
            <a:r>
              <a:rPr b="1" sz="1700">
                <a:solidFill>
                  <a:srgbClr val="1A1A2E"/>
                </a:solidFill>
                <a:latin typeface="Calibri"/>
              </a:rPr>
              <a:t>Two days</a:t>
            </a:r>
            <a:r>
              <a:rPr b="0" sz="1700">
                <a:solidFill>
                  <a:srgbClr val="1A1A2E"/>
                </a:solidFill>
                <a:latin typeface="Calibri"/>
              </a:rPr>
              <a:t> — confirm the render on Claude Desktop and one hosted surface (ChatGPT first; Slack if the workspace allows), with the write-back and audit row from each.</a:t>
            </a:r>
          </a:p>
          <a:p>
            <a:pPr>
              <a:spcAft>
                <a:spcPts val="1400"/>
              </a:spcAft>
            </a:pPr>
            <a:r>
              <a:rPr b="0" sz="1700">
                <a:solidFill>
                  <a:srgbClr val="1A1A2E"/>
                </a:solidFill>
                <a:latin typeface="Calibri"/>
              </a:rPr>
              <a:t>•  </a:t>
            </a:r>
            <a:r>
              <a:rPr b="1" sz="1700">
                <a:solidFill>
                  <a:srgbClr val="1A1A2E"/>
                </a:solidFill>
                <a:latin typeface="Calibri"/>
              </a:rPr>
              <a:t>Three to five days</a:t>
            </a:r>
            <a:r>
              <a:rPr b="0" sz="1700">
                <a:solidFill>
                  <a:srgbClr val="1A1A2E"/>
                </a:solidFill>
                <a:latin typeface="Calibri"/>
              </a:rPr>
              <a:t> — the certificate route to unblock Registration, then the two-person, two-host demonstration.</a:t>
            </a:r>
          </a:p>
          <a:p>
            <a:pPr>
              <a:spcAft>
                <a:spcPts val="1400"/>
              </a:spcAft>
            </a:pPr>
            <a:r>
              <a:rPr b="0" sz="1700">
                <a:solidFill>
                  <a:srgbClr val="1A1A2E"/>
                </a:solidFill>
                <a:latin typeface="Calibri"/>
              </a:rPr>
              <a:t>•  </a:t>
            </a:r>
            <a:r>
              <a:rPr b="1" sz="1700">
                <a:solidFill>
                  <a:srgbClr val="1A1A2E"/>
                </a:solidFill>
                <a:latin typeface="Calibri"/>
              </a:rPr>
              <a:t>A decision</a:t>
            </a:r>
            <a:r>
              <a:rPr b="0" sz="1700">
                <a:solidFill>
                  <a:srgbClr val="1A1A2E"/>
                </a:solidFill>
                <a:latin typeface="Calibri"/>
              </a:rPr>
              <a:t> — licensing confirmation with Salesforce before anything here is relied on commercially.</a:t>
            </a:r>
          </a:p>
          <a:p>
            <a:pPr>
              <a:spcAft>
                <a:spcPts val="1400"/>
              </a:spcAft>
            </a:pPr>
            <a:r>
              <a:rPr b="0" sz="1700">
                <a:solidFill>
                  <a:srgbClr val="1A1A2E"/>
                </a:solidFill>
                <a:latin typeface="Calibri"/>
              </a:rPr>
              <a:t>•  </a:t>
            </a:r>
            <a:r>
              <a:rPr b="1" sz="1700">
                <a:solidFill>
                  <a:srgbClr val="1A1A2E"/>
                </a:solidFill>
                <a:latin typeface="Calibri"/>
              </a:rPr>
              <a:t>Then</a:t>
            </a:r>
            <a:r>
              <a:rPr b="0" sz="1700">
                <a:solidFill>
                  <a:srgbClr val="1A1A2E"/>
                </a:solidFill>
                <a:latin typeface="Calibri"/>
              </a:rPr>
              <a:t> — scope MCP OAuth with the identity layer as authorization server: the identity broker Salesforce’s own material does not provide.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DF8"/>
        </a:solidFill>
        <a:effectLst/>
      </p:bgPr>
    </p:bg>
    <p:spTree>
      <p:nvGrpSpPr>
        <p:cNvPr id="1" name=""/>
        <p:cNvGrpSpPr/>
        <p:nvPr/>
      </p:nvGrpSpPr>
      <p:grpSpPr/>
      <p:sp>
        <p:nvSpPr>
          <p:cNvPr id="2" name="TextBox 1"/>
          <p:cNvSpPr txBox="1"/>
          <p:nvPr/>
        </p:nvSpPr>
        <p:spPr>
          <a:xfrm>
            <a:off x="640080" y="6400800"/>
            <a:ext cx="8229600" cy="320040"/>
          </a:xfrm>
          <a:prstGeom prst="rect">
            <a:avLst/>
          </a:prstGeom>
          <a:noFill/>
        </p:spPr>
        <p:txBody>
          <a:bodyPr wrap="square" anchor="t" lIns="45720" rIns="45720">
            <a:spAutoFit/>
          </a:bodyPr>
          <a:lstStyle/>
          <a:p>
            <a:pPr algn="l"/>
            <a:r>
              <a:rPr b="0" sz="1000">
                <a:solidFill>
                  <a:srgbClr val="78716C"/>
                </a:solidFill>
                <a:latin typeface="Calibri"/>
              </a:rPr>
              <a:t>Headless Salesforce POC · Phase 2 · 12 Sep 2026</a:t>
            </a:r>
          </a:p>
        </p:txBody>
      </p:sp>
      <p:sp>
        <p:nvSpPr>
          <p:cNvPr id="3" name="TextBox 2"/>
          <p:cNvSpPr txBox="1"/>
          <p:nvPr/>
        </p:nvSpPr>
        <p:spPr>
          <a:xfrm>
            <a:off x="10607040" y="6400800"/>
            <a:ext cx="1005840" cy="320040"/>
          </a:xfrm>
          <a:prstGeom prst="rect">
            <a:avLst/>
          </a:prstGeom>
          <a:noFill/>
        </p:spPr>
        <p:txBody>
          <a:bodyPr wrap="square" anchor="t" lIns="45720" rIns="45720">
            <a:spAutoFit/>
          </a:bodyPr>
          <a:lstStyle/>
          <a:p>
            <a:pPr algn="r"/>
            <a:r>
              <a:rPr b="0" sz="1000">
                <a:solidFill>
                  <a:srgbClr val="78716C"/>
                </a:solidFill>
                <a:latin typeface="Calibri"/>
              </a:rPr>
              <a:t>15</a:t>
            </a:r>
          </a:p>
        </p:txBody>
      </p:sp>
      <p:sp>
        <p:nvSpPr>
          <p:cNvPr id="4" name="TextBox 3"/>
          <p:cNvSpPr txBox="1"/>
          <p:nvPr/>
        </p:nvSpPr>
        <p:spPr>
          <a:xfrm>
            <a:off x="640080" y="411480"/>
            <a:ext cx="10972800" cy="1005840"/>
          </a:xfrm>
          <a:prstGeom prst="rect">
            <a:avLst/>
          </a:prstGeom>
          <a:noFill/>
        </p:spPr>
        <p:txBody>
          <a:bodyPr wrap="square" anchor="t" lIns="45720" rIns="45720">
            <a:spAutoFit/>
          </a:bodyPr>
          <a:lstStyle/>
          <a:p>
            <a:pPr algn="l"/>
            <a:r>
              <a:rPr b="1" sz="3200">
                <a:solidFill>
                  <a:srgbClr val="1A1A2E"/>
                </a:solidFill>
                <a:latin typeface="Calibri"/>
              </a:rPr>
              <a:t>Appendix</a:t>
            </a:r>
          </a:p>
        </p:txBody>
      </p:sp>
      <p:sp>
        <p:nvSpPr>
          <p:cNvPr id="5" name="TextBox 4"/>
          <p:cNvSpPr txBox="1"/>
          <p:nvPr/>
        </p:nvSpPr>
        <p:spPr>
          <a:xfrm>
            <a:off x="640080" y="1234440"/>
            <a:ext cx="10972800" cy="457200"/>
          </a:xfrm>
          <a:prstGeom prst="rect">
            <a:avLst/>
          </a:prstGeom>
          <a:noFill/>
        </p:spPr>
        <p:txBody>
          <a:bodyPr wrap="square" anchor="t" lIns="45720" rIns="45720">
            <a:spAutoFit/>
          </a:bodyPr>
          <a:lstStyle/>
          <a:p>
            <a:pPr algn="l"/>
            <a:r>
              <a:rPr b="0" sz="1600">
                <a:solidFill>
                  <a:srgbClr val="78716C"/>
                </a:solidFill>
                <a:latin typeface="Calibri"/>
              </a:rPr>
              <a:t>Fallbacks if anything live refuses to cooperate</a:t>
            </a:r>
          </a:p>
        </p:txBody>
      </p:sp>
      <p:sp>
        <p:nvSpPr>
          <p:cNvPr id="6" name="Rectangle 5"/>
          <p:cNvSpPr/>
          <p:nvPr/>
        </p:nvSpPr>
        <p:spPr>
          <a:xfrm>
            <a:off x="640080" y="1737360"/>
            <a:ext cx="1097280" cy="3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10972800" cy="3657600"/>
          </a:xfrm>
          <a:prstGeom prst="rect">
            <a:avLst/>
          </a:prstGeom>
          <a:noFill/>
        </p:spPr>
        <p:txBody>
          <a:bodyPr wrap="square">
            <a:spAutoFit/>
          </a:bodyPr>
          <a:lstStyle/>
          <a:p>
            <a:pPr>
              <a:spcAft>
                <a:spcPts val="1000"/>
              </a:spcAft>
            </a:pPr>
            <a:r>
              <a:rPr b="0" sz="1600">
                <a:solidFill>
                  <a:srgbClr val="1A1A2E"/>
                </a:solidFill>
                <a:latin typeface="Calibri"/>
              </a:rPr>
              <a:t>•  A1 — Screenshots per host: card, button, audit row  </a:t>
            </a:r>
            <a:r>
              <a:rPr b="1" sz="1600">
                <a:solidFill>
                  <a:srgbClr val="1A1A2E"/>
                </a:solidFill>
                <a:latin typeface="Calibri"/>
              </a:rPr>
              <a:t>(add before the demo)</a:t>
            </a:r>
          </a:p>
          <a:p>
            <a:pPr>
              <a:spcAft>
                <a:spcPts val="1000"/>
              </a:spcAft>
            </a:pPr>
            <a:r>
              <a:rPr b="0" sz="1600">
                <a:solidFill>
                  <a:srgbClr val="1A1A2E"/>
                </a:solidFill>
                <a:latin typeface="Calibri"/>
              </a:rPr>
              <a:t>•  A2 — Full findings table (17) — </a:t>
            </a:r>
            <a:r>
              <a:rPr sz="1400">
                <a:solidFill>
                  <a:srgbClr val="1A1A2E"/>
                </a:solidFill>
                <a:latin typeface="Consolas"/>
              </a:rPr>
              <a:t>hxl-demo/HXL_ORG_CONTEXT.md</a:t>
            </a:r>
            <a:r>
              <a:rPr b="0" sz="1600">
                <a:solidFill>
                  <a:srgbClr val="1A1A2E"/>
                </a:solidFill>
                <a:latin typeface="Calibri"/>
              </a:rPr>
              <a:t>, </a:t>
            </a:r>
            <a:r>
              <a:rPr sz="1400">
                <a:solidFill>
                  <a:srgbClr val="1A1A2E"/>
                </a:solidFill>
                <a:latin typeface="Consolas"/>
              </a:rPr>
              <a:t>TRACK_B_ORG_CONTEXT.md</a:t>
            </a:r>
          </a:p>
          <a:p>
            <a:pPr>
              <a:spcAft>
                <a:spcPts val="1000"/>
              </a:spcAft>
            </a:pPr>
            <a:r>
              <a:rPr b="0" sz="1600">
                <a:solidFill>
                  <a:srgbClr val="1A1A2E"/>
                </a:solidFill>
                <a:latin typeface="Calibri"/>
              </a:rPr>
              <a:t>•  A3 — The attempts table for the init-endpoint wall</a:t>
            </a:r>
          </a:p>
          <a:p>
            <a:pPr>
              <a:spcAft>
                <a:spcPts val="1000"/>
              </a:spcAft>
            </a:pPr>
            <a:r>
              <a:rPr b="0" sz="1600">
                <a:solidFill>
                  <a:srgbClr val="1A1A2E"/>
                </a:solidFill>
                <a:latin typeface="Calibri"/>
              </a:rPr>
              <a:t>•  A4 — </a:t>
            </a:r>
            <a:r>
              <a:rPr sz="1400">
                <a:solidFill>
                  <a:srgbClr val="1A1A2E"/>
                </a:solidFill>
                <a:latin typeface="Consolas"/>
              </a:rPr>
              <a:t>/sessions</a:t>
            </a:r>
            <a:r>
              <a:rPr b="0" sz="1600">
                <a:solidFill>
                  <a:srgbClr val="1A1A2E"/>
                </a:solidFill>
                <a:latin typeface="Calibri"/>
              </a:rPr>
              <a:t> JSON: two Contact Ids, no tokens</a:t>
            </a:r>
          </a:p>
          <a:p>
            <a:pPr>
              <a:spcAft>
                <a:spcPts val="1000"/>
              </a:spcAft>
            </a:pPr>
            <a:r>
              <a:rPr b="0" sz="1600">
                <a:solidFill>
                  <a:srgbClr val="1A1A2E"/>
                </a:solidFill>
                <a:latin typeface="Calibri"/>
              </a:rPr>
              <a:t>•  A5 — The sharing SOQL, before and after the View All fix</a:t>
            </a:r>
          </a:p>
          <a:p>
            <a:pPr>
              <a:spcAft>
                <a:spcPts val="1000"/>
              </a:spcAft>
            </a:pPr>
            <a:r>
              <a:rPr b="0" sz="1600">
                <a:solidFill>
                  <a:srgbClr val="1A1A2E"/>
                </a:solidFill>
                <a:latin typeface="Calibri"/>
              </a:rPr>
              <a:t>•  A6 — The prompt-injection transcript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